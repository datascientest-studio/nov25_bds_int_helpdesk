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7" r:id="rId4"/>
    <p:sldId id="268" r:id="rId5"/>
    <p:sldId id="265" r:id="rId6"/>
    <p:sldId id="270" r:id="rId7"/>
    <p:sldId id="27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3B8"/>
    <a:srgbClr val="7EEFA1"/>
    <a:srgbClr val="2C3E4F"/>
    <a:srgbClr val="F49C12"/>
    <a:srgbClr val="2EC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14"/>
    <p:restoredTop sz="94610"/>
  </p:normalViewPr>
  <p:slideViewPr>
    <p:cSldViewPr snapToGrid="0" snapToObjects="1">
      <p:cViewPr>
        <p:scale>
          <a:sx n="115" d="100"/>
          <a:sy n="115" d="100"/>
        </p:scale>
        <p:origin x="2016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by user: documentation.html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by user: documentation.html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98E8-BD4E-3330-C382-7D721CBC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B02D8-B805-C94E-E8EF-2DE97BE85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91BE8-A852-5B49-9C33-4D4A3D7E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by user: documentation.html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94BD3-A9AA-E5C6-4AC2-7A636430E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0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F7B9-49DF-4C39-4EA3-C87AED95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5779C-08CC-66E9-7313-66F2BBFD9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EBEC9-2067-0B3F-C68E-B65AB4CE1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by user: documentation.html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3356D-5AE8-CA08-E172-F4B5B556B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90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969D-A818-5B8C-54A4-D1E796F0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74E62-6EA3-2317-9556-BC7C6B7EC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6545D-D088-CCC3-A9D4-D85DA6035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by user: documentation.html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BBB00-B80C-9C36-2806-5379000CEF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05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5800-0C9B-7F45-3F4A-57E3EEDE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51383-0EEA-B020-E351-E749D9CCD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371AD-3AF0-2EA9-8A20-BD3451B7C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by user: documentation.html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D8696-4D20-EE4E-479C-BFADCA57B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93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15A5-55D4-46B6-F4D0-DA32C1D6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5700D-2C86-C650-3240-111BBAF40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A9A46-7D6B-524F-EF51-653306503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by user: documentation.html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C6238-9A04-22DE-4176-7C7E2DA9C4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1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1094415" cy="4434840"/>
          </a:xfrm>
          <a:prstGeom prst="roundRect">
            <a:avLst>
              <a:gd name="adj" fmla="val 91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272988" y="3265841"/>
            <a:ext cx="100957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Operations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72988" y="4088801"/>
            <a:ext cx="100957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Analytics—using Real World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776399"/>
            <a:ext cx="11094415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DAC34FF-FA31-95DE-8A23-B2A6D1E40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66941"/>
              </p:ext>
            </p:extLst>
          </p:nvPr>
        </p:nvGraphicFramePr>
        <p:xfrm>
          <a:off x="155999" y="6581987"/>
          <a:ext cx="118800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83113111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420813297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227425320"/>
                    </a:ext>
                  </a:extLst>
                </a:gridCol>
              </a:tblGrid>
              <a:tr h="228222">
                <a:tc>
                  <a:txBody>
                    <a:bodyPr/>
                    <a:lstStyle/>
                    <a:p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Project Defense  |  24 Feb 2026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b="0" dirty="0" err="1">
                          <a:solidFill>
                            <a:srgbClr val="94A3B8"/>
                          </a:solidFill>
                        </a:rPr>
                        <a:t>DataScientest</a:t>
                      </a:r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  |  Liora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Christian Gebert  |  Marina Pfeifer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469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54104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04543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 desk is a structured support function where tickets (or issues) are created, triaged, worked on by support employees, and eventually closed. Tickets move through a workflow and can be handed over between employees if needed (so-called turns).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2240279"/>
            <a:ext cx="11094415" cy="2822089"/>
          </a:xfrm>
          <a:prstGeom prst="roundRect">
            <a:avLst>
              <a:gd name="adj" fmla="val 523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1063721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124FF21B-05A6-BA3C-581E-7ECE92243413}"/>
              </a:ext>
            </a:extLst>
          </p:cNvPr>
          <p:cNvSpPr/>
          <p:nvPr/>
        </p:nvSpPr>
        <p:spPr>
          <a:xfrm>
            <a:off x="548640" y="5230368"/>
            <a:ext cx="11094415" cy="100476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13BDAF3A-E324-2097-EB92-9B0C61E42F45}"/>
              </a:ext>
            </a:extLst>
          </p:cNvPr>
          <p:cNvSpPr/>
          <p:nvPr/>
        </p:nvSpPr>
        <p:spPr>
          <a:xfrm>
            <a:off x="868680" y="5398366"/>
            <a:ext cx="10454335" cy="668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process and internal communication data to quantify turn-level performance and SLA risk, thereby evaluating manager ratings (Q-Scores) with operational and more objective proxies (O-Scores), and performer clusters.</a:t>
            </a:r>
          </a:p>
        </p:txBody>
      </p:sp>
      <p:pic>
        <p:nvPicPr>
          <p:cNvPr id="44" name="Grafik 43" descr="Ein Bild, das Text, Software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30556E77-3622-B587-2ECA-1C9D150D6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l="22637" t="43511" r="39581" b="39015"/>
          <a:stretch>
            <a:fillRect/>
          </a:stretch>
        </p:blipFill>
        <p:spPr>
          <a:xfrm>
            <a:off x="2708579" y="2865478"/>
            <a:ext cx="6774536" cy="2028303"/>
          </a:xfrm>
          <a:prstGeom prst="rect">
            <a:avLst/>
          </a:prstGeom>
          <a:ln w="6350">
            <a:noFill/>
          </a:ln>
        </p:spPr>
      </p:pic>
      <p:sp>
        <p:nvSpPr>
          <p:cNvPr id="45" name="Rechteck 44">
            <a:extLst>
              <a:ext uri="{FF2B5EF4-FFF2-40B4-BE49-F238E27FC236}">
                <a16:creationId xmlns:a16="http://schemas.microsoft.com/office/drawing/2014/main" id="{ACB5A6D2-3D70-6CD7-9BB3-9EC0A4FA3A51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46" name="Tabelle 45">
            <a:extLst>
              <a:ext uri="{FF2B5EF4-FFF2-40B4-BE49-F238E27FC236}">
                <a16:creationId xmlns:a16="http://schemas.microsoft.com/office/drawing/2014/main" id="{32AC3978-B868-A4A2-12D2-DBE3CAEAF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230802"/>
              </p:ext>
            </p:extLst>
          </p:nvPr>
        </p:nvGraphicFramePr>
        <p:xfrm>
          <a:off x="155999" y="6581987"/>
          <a:ext cx="118800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83113111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420813297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227425320"/>
                    </a:ext>
                  </a:extLst>
                </a:gridCol>
              </a:tblGrid>
              <a:tr h="228222">
                <a:tc>
                  <a:txBody>
                    <a:bodyPr/>
                    <a:lstStyle/>
                    <a:p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Project Defense  |  24 Feb 2026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b="0" dirty="0" err="1">
                          <a:solidFill>
                            <a:srgbClr val="94A3B8"/>
                          </a:solidFill>
                        </a:rPr>
                        <a:t>DataScientest</a:t>
                      </a:r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  |  Liora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Christian Gebert  |  Marina Pfeifer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469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17EAC-C1CE-4CF0-AB40-A840941D9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3">
            <a:extLst>
              <a:ext uri="{FF2B5EF4-FFF2-40B4-BE49-F238E27FC236}">
                <a16:creationId xmlns:a16="http://schemas.microsoft.com/office/drawing/2014/main" id="{0AD2748F-F24E-C726-2E48-19AE01028345}"/>
              </a:ext>
            </a:extLst>
          </p:cNvPr>
          <p:cNvSpPr/>
          <p:nvPr/>
        </p:nvSpPr>
        <p:spPr>
          <a:xfrm>
            <a:off x="548640" y="1234440"/>
            <a:ext cx="11094415" cy="82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B834589-D328-FDE0-97E5-DE7F148E2B3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7AFA98-7403-8D73-E607-D5DA365342E2}"/>
              </a:ext>
            </a:extLst>
          </p:cNvPr>
          <p:cNvSpPr/>
          <p:nvPr/>
        </p:nvSpPr>
        <p:spPr>
          <a:xfrm>
            <a:off x="548640" y="354104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3FC82F1F-65D3-EC96-7039-6E5CF7AF9F11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672114A-1C61-76BB-4D75-7DED2C6C7C68}"/>
              </a:ext>
            </a:extLst>
          </p:cNvPr>
          <p:cNvSpPr/>
          <p:nvPr/>
        </p:nvSpPr>
        <p:spPr>
          <a:xfrm>
            <a:off x="868679" y="1249596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system for automated helpdesk performance analysis: compute employee scores, form clusters, and predict manager ratings from real world ticket data (</a:t>
            </a:r>
            <a:r>
              <a:rPr lang="en-US" sz="16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</a:t>
            </a: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10.17632/btm76zndnt.2).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BEDE4925-0E7E-7888-EE6A-732AF3EB2EFA}"/>
              </a:ext>
            </a:extLst>
          </p:cNvPr>
          <p:cNvSpPr/>
          <p:nvPr/>
        </p:nvSpPr>
        <p:spPr>
          <a:xfrm>
            <a:off x="2020600" y="2389097"/>
            <a:ext cx="2670734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 sz="16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59B1FD4-9641-6CB0-1A2F-847C3FCCDB4E}"/>
              </a:ext>
            </a:extLst>
          </p:cNvPr>
          <p:cNvSpPr/>
          <p:nvPr/>
        </p:nvSpPr>
        <p:spPr>
          <a:xfrm>
            <a:off x="2020600" y="2389097"/>
            <a:ext cx="73152" cy="1234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 sz="16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B54E83C-26D1-CC27-B307-7FC699A97165}"/>
              </a:ext>
            </a:extLst>
          </p:cNvPr>
          <p:cNvSpPr/>
          <p:nvPr/>
        </p:nvSpPr>
        <p:spPr>
          <a:xfrm>
            <a:off x="2185192" y="2553689"/>
            <a:ext cx="23964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90,963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FBAA58D-164B-698C-3F33-A8AD1AE19476}"/>
              </a:ext>
            </a:extLst>
          </p:cNvPr>
          <p:cNvSpPr/>
          <p:nvPr/>
        </p:nvSpPr>
        <p:spPr>
          <a:xfrm>
            <a:off x="2185192" y="3102329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(snapshots)</a:t>
            </a:r>
            <a:endParaRPr lang="en-US" sz="11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0A5693D-3D8E-13D4-F790-E26B71382126}"/>
              </a:ext>
            </a:extLst>
          </p:cNvPr>
          <p:cNvSpPr/>
          <p:nvPr/>
        </p:nvSpPr>
        <p:spPr>
          <a:xfrm>
            <a:off x="4828494" y="2389097"/>
            <a:ext cx="2670734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 sz="16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95173418-6956-EDB2-FF83-C73B72309F58}"/>
              </a:ext>
            </a:extLst>
          </p:cNvPr>
          <p:cNvSpPr/>
          <p:nvPr/>
        </p:nvSpPr>
        <p:spPr>
          <a:xfrm>
            <a:off x="4828494" y="2389097"/>
            <a:ext cx="73152" cy="1234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de-DE" sz="16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A48FC70-E0F0-12D5-EAEF-3C5A4064FF94}"/>
              </a:ext>
            </a:extLst>
          </p:cNvPr>
          <p:cNvSpPr/>
          <p:nvPr/>
        </p:nvSpPr>
        <p:spPr>
          <a:xfrm>
            <a:off x="4993086" y="2553689"/>
            <a:ext cx="23964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2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5398A80-2BAB-08CF-86F6-3802E7E08B29}"/>
              </a:ext>
            </a:extLst>
          </p:cNvPr>
          <p:cNvSpPr/>
          <p:nvPr/>
        </p:nvSpPr>
        <p:spPr>
          <a:xfrm>
            <a:off x="4993086" y="3102329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analyzed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32AD210-B4E2-89AB-239C-0DBF432F5DEE}"/>
              </a:ext>
            </a:extLst>
          </p:cNvPr>
          <p:cNvSpPr/>
          <p:nvPr/>
        </p:nvSpPr>
        <p:spPr>
          <a:xfrm>
            <a:off x="7636388" y="2389097"/>
            <a:ext cx="2670734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 sz="160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D01E453C-8D5E-02EC-E981-65BE12D0A059}"/>
              </a:ext>
            </a:extLst>
          </p:cNvPr>
          <p:cNvSpPr/>
          <p:nvPr/>
        </p:nvSpPr>
        <p:spPr>
          <a:xfrm>
            <a:off x="7636388" y="2389097"/>
            <a:ext cx="73152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 sz="16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A931C2C3-D5CC-9E4A-95BD-D57F816CC7C5}"/>
              </a:ext>
            </a:extLst>
          </p:cNvPr>
          <p:cNvSpPr/>
          <p:nvPr/>
        </p:nvSpPr>
        <p:spPr>
          <a:xfrm>
            <a:off x="7800980" y="2553689"/>
            <a:ext cx="23964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2016—2023</a:t>
            </a:r>
            <a:endParaRPr lang="en-US" sz="24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5088CC79-AF99-9486-B241-54EFAA52AA73}"/>
              </a:ext>
            </a:extLst>
          </p:cNvPr>
          <p:cNvSpPr/>
          <p:nvPr/>
        </p:nvSpPr>
        <p:spPr>
          <a:xfrm>
            <a:off x="7800980" y="3102329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</a:t>
            </a:r>
            <a:endParaRPr lang="en-US" sz="1100" dirty="0"/>
          </a:p>
        </p:txBody>
      </p:sp>
      <p:graphicFrame>
        <p:nvGraphicFramePr>
          <p:cNvPr id="27" name="Tabelle 26">
            <a:extLst>
              <a:ext uri="{FF2B5EF4-FFF2-40B4-BE49-F238E27FC236}">
                <a16:creationId xmlns:a16="http://schemas.microsoft.com/office/drawing/2014/main" id="{4B547385-618F-EEA3-04EB-56974691E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230802"/>
              </p:ext>
            </p:extLst>
          </p:nvPr>
        </p:nvGraphicFramePr>
        <p:xfrm>
          <a:off x="155999" y="6581987"/>
          <a:ext cx="118800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83113111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420813297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227425320"/>
                    </a:ext>
                  </a:extLst>
                </a:gridCol>
              </a:tblGrid>
              <a:tr h="228222">
                <a:tc>
                  <a:txBody>
                    <a:bodyPr/>
                    <a:lstStyle/>
                    <a:p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Project Defense  |  24 Feb 2026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b="0" dirty="0" err="1">
                          <a:solidFill>
                            <a:srgbClr val="94A3B8"/>
                          </a:solidFill>
                        </a:rPr>
                        <a:t>DataScientest</a:t>
                      </a:r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  |  Liora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Christian Gebert  |  Marina Pfeifer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46930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C778C060-8176-67B9-933F-7CDEEB58C06D}"/>
              </a:ext>
            </a:extLst>
          </p:cNvPr>
          <p:cNvSpPr/>
          <p:nvPr/>
        </p:nvSpPr>
        <p:spPr>
          <a:xfrm>
            <a:off x="548638" y="3974761"/>
            <a:ext cx="11094415" cy="2238142"/>
          </a:xfrm>
          <a:prstGeom prst="roundRect">
            <a:avLst>
              <a:gd name="adj" fmla="val 654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55F00FF-9FF6-9281-4DCB-E4D7EBC2CEF7}"/>
              </a:ext>
            </a:extLst>
          </p:cNvPr>
          <p:cNvSpPr txBox="1"/>
          <p:nvPr/>
        </p:nvSpPr>
        <p:spPr>
          <a:xfrm>
            <a:off x="868680" y="4062780"/>
            <a:ext cx="1077437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dirty="0">
                <a:solidFill>
                  <a:schemeClr val="bg1"/>
                </a:solidFill>
              </a:rPr>
              <a:t>Reality</a:t>
            </a:r>
            <a:r>
              <a:rPr lang="de-DE" sz="1600" dirty="0">
                <a:solidFill>
                  <a:schemeClr val="bg1"/>
                </a:solidFill>
              </a:rPr>
              <a:t>		Ticket </a:t>
            </a:r>
            <a:r>
              <a:rPr lang="de-DE" sz="1600" dirty="0" err="1">
                <a:solidFill>
                  <a:schemeClr val="bg1"/>
                </a:solidFill>
              </a:rPr>
              <a:t>demand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fluctuates</a:t>
            </a:r>
            <a:r>
              <a:rPr lang="de-DE" sz="1600" dirty="0">
                <a:solidFill>
                  <a:schemeClr val="bg1"/>
                </a:solidFill>
              </a:rPr>
              <a:t>; </a:t>
            </a:r>
            <a:r>
              <a:rPr lang="de-DE" sz="1600" dirty="0" err="1">
                <a:solidFill>
                  <a:schemeClr val="bg1"/>
                </a:solidFill>
              </a:rPr>
              <a:t>single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tickets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often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need</a:t>
            </a:r>
            <a:r>
              <a:rPr lang="de-DE" sz="1600" dirty="0">
                <a:solidFill>
                  <a:schemeClr val="bg1"/>
                </a:solidFill>
              </a:rPr>
              <a:t> multiple </a:t>
            </a:r>
            <a:r>
              <a:rPr lang="de-DE" sz="1600" dirty="0" err="1">
                <a:solidFill>
                  <a:schemeClr val="bg1"/>
                </a:solidFill>
              </a:rPr>
              <a:t>touches</a:t>
            </a:r>
            <a:r>
              <a:rPr lang="de-DE" sz="1600" dirty="0">
                <a:solidFill>
                  <a:schemeClr val="bg1"/>
                </a:solidFill>
              </a:rPr>
              <a:t>/</a:t>
            </a:r>
            <a:r>
              <a:rPr lang="de-DE" sz="1600" dirty="0" err="1">
                <a:solidFill>
                  <a:schemeClr val="bg1"/>
                </a:solidFill>
              </a:rPr>
              <a:t>assignees</a:t>
            </a:r>
            <a:endParaRPr lang="de-DE" sz="1600" dirty="0">
              <a:solidFill>
                <a:schemeClr val="bg1"/>
              </a:solidFill>
            </a:endParaRPr>
          </a:p>
          <a:p>
            <a:r>
              <a:rPr lang="de-DE" sz="1600" dirty="0">
                <a:solidFill>
                  <a:schemeClr val="bg1"/>
                </a:solidFill>
              </a:rPr>
              <a:t>		Helpdesk </a:t>
            </a:r>
            <a:r>
              <a:rPr lang="de-DE" sz="1600" dirty="0" err="1">
                <a:solidFill>
                  <a:schemeClr val="bg1"/>
                </a:solidFill>
              </a:rPr>
              <a:t>success</a:t>
            </a:r>
            <a:r>
              <a:rPr lang="de-DE" sz="1600" dirty="0">
                <a:solidFill>
                  <a:schemeClr val="bg1"/>
                </a:solidFill>
              </a:rPr>
              <a:t> = </a:t>
            </a:r>
            <a:r>
              <a:rPr lang="de-DE" sz="1600" dirty="0" err="1">
                <a:solidFill>
                  <a:schemeClr val="bg1"/>
                </a:solidFill>
              </a:rPr>
              <a:t>efficiency</a:t>
            </a:r>
            <a:r>
              <a:rPr lang="de-DE" sz="1600" dirty="0">
                <a:solidFill>
                  <a:schemeClr val="bg1"/>
                </a:solidFill>
              </a:rPr>
              <a:t> (time/</a:t>
            </a:r>
            <a:r>
              <a:rPr lang="de-DE" sz="1600" dirty="0" err="1">
                <a:solidFill>
                  <a:schemeClr val="bg1"/>
                </a:solidFill>
              </a:rPr>
              <a:t>cost</a:t>
            </a:r>
            <a:r>
              <a:rPr lang="de-DE" sz="1600" dirty="0">
                <a:solidFill>
                  <a:schemeClr val="bg1"/>
                </a:solidFill>
              </a:rPr>
              <a:t>) + </a:t>
            </a:r>
            <a:r>
              <a:rPr lang="de-DE" sz="1600" dirty="0" err="1">
                <a:solidFill>
                  <a:schemeClr val="bg1"/>
                </a:solidFill>
              </a:rPr>
              <a:t>service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quality</a:t>
            </a:r>
            <a:endParaRPr lang="de-DE" sz="1600" dirty="0">
              <a:solidFill>
                <a:schemeClr val="bg1"/>
              </a:solidFill>
            </a:endParaRPr>
          </a:p>
          <a:p>
            <a:endParaRPr lang="de-DE" sz="1600" dirty="0">
              <a:solidFill>
                <a:schemeClr val="bg1"/>
              </a:solidFill>
            </a:endParaRPr>
          </a:p>
          <a:p>
            <a:r>
              <a:rPr lang="de-DE" sz="1600" b="1" dirty="0">
                <a:solidFill>
                  <a:schemeClr val="bg1"/>
                </a:solidFill>
              </a:rPr>
              <a:t>Goal</a:t>
            </a:r>
            <a:r>
              <a:rPr lang="de-DE" sz="1600" dirty="0">
                <a:solidFill>
                  <a:schemeClr val="bg1"/>
                </a:solidFill>
              </a:rPr>
              <a:t>		Score </a:t>
            </a:r>
            <a:r>
              <a:rPr lang="de-DE" sz="1600" dirty="0" err="1">
                <a:solidFill>
                  <a:schemeClr val="bg1"/>
                </a:solidFill>
              </a:rPr>
              <a:t>performance</a:t>
            </a:r>
            <a:r>
              <a:rPr lang="de-DE" sz="1600" dirty="0">
                <a:solidFill>
                  <a:schemeClr val="bg1"/>
                </a:solidFill>
              </a:rPr>
              <a:t> per </a:t>
            </a:r>
            <a:r>
              <a:rPr lang="de-DE" sz="1600" dirty="0" err="1">
                <a:solidFill>
                  <a:schemeClr val="bg1"/>
                </a:solidFill>
              </a:rPr>
              <a:t>employee</a:t>
            </a:r>
            <a:r>
              <a:rPr lang="de-DE" sz="1600" dirty="0">
                <a:solidFill>
                  <a:schemeClr val="bg1"/>
                </a:solidFill>
              </a:rPr>
              <a:t>/turn </a:t>
            </a:r>
            <a:r>
              <a:rPr lang="de-DE" sz="1600" dirty="0" err="1">
                <a:solidFill>
                  <a:schemeClr val="bg1"/>
                </a:solidFill>
              </a:rPr>
              <a:t>using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process</a:t>
            </a:r>
            <a:r>
              <a:rPr lang="de-DE" sz="1600" dirty="0">
                <a:solidFill>
                  <a:schemeClr val="bg1"/>
                </a:solidFill>
              </a:rPr>
              <a:t> + </a:t>
            </a:r>
            <a:r>
              <a:rPr lang="de-DE" sz="1600" dirty="0" err="1">
                <a:solidFill>
                  <a:schemeClr val="bg1"/>
                </a:solidFill>
              </a:rPr>
              <a:t>communication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data</a:t>
            </a:r>
            <a:endParaRPr lang="de-DE" sz="1600" dirty="0">
              <a:solidFill>
                <a:schemeClr val="bg1"/>
              </a:solidFill>
            </a:endParaRPr>
          </a:p>
          <a:p>
            <a:r>
              <a:rPr lang="de-DE" sz="1600" dirty="0">
                <a:solidFill>
                  <a:schemeClr val="bg1"/>
                </a:solidFill>
              </a:rPr>
              <a:t>		</a:t>
            </a:r>
            <a:r>
              <a:rPr lang="de-DE" sz="1600" dirty="0" err="1">
                <a:solidFill>
                  <a:schemeClr val="bg1"/>
                </a:solidFill>
              </a:rPr>
              <a:t>Compare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manager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ratings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vs</a:t>
            </a:r>
            <a:r>
              <a:rPr lang="de-DE" sz="1600" dirty="0">
                <a:solidFill>
                  <a:schemeClr val="bg1"/>
                </a:solidFill>
              </a:rPr>
              <a:t> operational </a:t>
            </a:r>
            <a:r>
              <a:rPr lang="de-DE" sz="1600" dirty="0" err="1">
                <a:solidFill>
                  <a:schemeClr val="bg1"/>
                </a:solidFill>
              </a:rPr>
              <a:t>scores</a:t>
            </a:r>
            <a:r>
              <a:rPr lang="de-DE" sz="1600" dirty="0">
                <a:solidFill>
                  <a:schemeClr val="bg1"/>
                </a:solidFill>
              </a:rPr>
              <a:t>; </a:t>
            </a:r>
            <a:r>
              <a:rPr lang="de-DE" sz="1600" dirty="0" err="1">
                <a:solidFill>
                  <a:schemeClr val="bg1"/>
                </a:solidFill>
              </a:rPr>
              <a:t>model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key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drivers</a:t>
            </a:r>
            <a:r>
              <a:rPr lang="de-DE" sz="1600" dirty="0">
                <a:solidFill>
                  <a:schemeClr val="bg1"/>
                </a:solidFill>
              </a:rPr>
              <a:t> (</a:t>
            </a:r>
            <a:r>
              <a:rPr lang="de-DE" sz="1600" dirty="0" err="1">
                <a:solidFill>
                  <a:schemeClr val="bg1"/>
                </a:solidFill>
              </a:rPr>
              <a:t>features</a:t>
            </a:r>
            <a:r>
              <a:rPr lang="de-DE" sz="1600" dirty="0">
                <a:solidFill>
                  <a:schemeClr val="bg1"/>
                </a:solidFill>
              </a:rPr>
              <a:t>)</a:t>
            </a:r>
          </a:p>
          <a:p>
            <a:endParaRPr lang="de-DE" sz="1600" dirty="0">
              <a:solidFill>
                <a:schemeClr val="bg1"/>
              </a:solidFill>
            </a:endParaRPr>
          </a:p>
          <a:p>
            <a:r>
              <a:rPr lang="de-DE" sz="1600" b="1" dirty="0">
                <a:solidFill>
                  <a:schemeClr val="bg1"/>
                </a:solidFill>
              </a:rPr>
              <a:t>Business Value </a:t>
            </a:r>
            <a:r>
              <a:rPr lang="de-DE" sz="1600" dirty="0">
                <a:solidFill>
                  <a:schemeClr val="bg1"/>
                </a:solidFill>
              </a:rPr>
              <a:t>	</a:t>
            </a:r>
            <a:r>
              <a:rPr lang="de-DE" sz="1600" dirty="0" err="1">
                <a:solidFill>
                  <a:schemeClr val="bg1"/>
                </a:solidFill>
              </a:rPr>
              <a:t>Identify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training</a:t>
            </a:r>
            <a:r>
              <a:rPr lang="de-DE" sz="1600" dirty="0">
                <a:solidFill>
                  <a:schemeClr val="bg1"/>
                </a:solidFill>
              </a:rPr>
              <a:t>/</a:t>
            </a:r>
            <a:r>
              <a:rPr lang="de-DE" sz="1600" dirty="0" err="1">
                <a:solidFill>
                  <a:schemeClr val="bg1"/>
                </a:solidFill>
              </a:rPr>
              <a:t>coaching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targets</a:t>
            </a:r>
            <a:r>
              <a:rPr lang="de-DE" sz="1600" dirty="0">
                <a:solidFill>
                  <a:schemeClr val="bg1"/>
                </a:solidFill>
              </a:rPr>
              <a:t> and </a:t>
            </a:r>
            <a:r>
              <a:rPr lang="de-DE" sz="1600" dirty="0" err="1">
                <a:solidFill>
                  <a:schemeClr val="bg1"/>
                </a:solidFill>
              </a:rPr>
              <a:t>improve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service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consistency</a:t>
            </a:r>
            <a:endParaRPr lang="de-DE" sz="1600" dirty="0">
              <a:solidFill>
                <a:schemeClr val="bg1"/>
              </a:solidFill>
            </a:endParaRPr>
          </a:p>
          <a:p>
            <a:r>
              <a:rPr lang="de-DE" sz="1600" dirty="0">
                <a:solidFill>
                  <a:schemeClr val="bg1"/>
                </a:solidFill>
              </a:rPr>
              <a:t>		</a:t>
            </a:r>
            <a:r>
              <a:rPr lang="de-DE" sz="1600" dirty="0" err="1">
                <a:solidFill>
                  <a:schemeClr val="bg1"/>
                </a:solidFill>
              </a:rPr>
              <a:t>Enable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monitoring</a:t>
            </a:r>
            <a:r>
              <a:rPr lang="de-DE" sz="1600" dirty="0">
                <a:solidFill>
                  <a:schemeClr val="bg1"/>
                </a:solidFill>
              </a:rPr>
              <a:t>/</a:t>
            </a:r>
            <a:r>
              <a:rPr lang="de-DE" sz="1600" dirty="0" err="1">
                <a:solidFill>
                  <a:schemeClr val="bg1"/>
                </a:solidFill>
              </a:rPr>
              <a:t>alerts</a:t>
            </a:r>
            <a:r>
              <a:rPr lang="de-DE" sz="1600" dirty="0">
                <a:solidFill>
                  <a:schemeClr val="bg1"/>
                </a:solidFill>
              </a:rPr>
              <a:t> and </a:t>
            </a:r>
            <a:r>
              <a:rPr lang="de-DE" sz="1600" dirty="0" err="1">
                <a:solidFill>
                  <a:schemeClr val="bg1"/>
                </a:solidFill>
              </a:rPr>
              <a:t>drive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process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improvements</a:t>
            </a:r>
            <a:endParaRPr lang="de-DE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80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BC4F4-1E24-2A89-94B7-75E46555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66742D-3DE8-21A0-DC27-44BB37821509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CED5D1-C1D5-3FEE-EF71-F8C256D5CBEE}"/>
              </a:ext>
            </a:extLst>
          </p:cNvPr>
          <p:cNvSpPr/>
          <p:nvPr/>
        </p:nvSpPr>
        <p:spPr>
          <a:xfrm>
            <a:off x="548640" y="354104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28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70373F0-B0BE-AF10-8DAD-A31973237CF6}"/>
              </a:ext>
            </a:extLst>
          </p:cNvPr>
          <p:cNvSpPr/>
          <p:nvPr/>
        </p:nvSpPr>
        <p:spPr>
          <a:xfrm>
            <a:off x="28699" y="1259547"/>
            <a:ext cx="2324370" cy="4719405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 sz="16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F4F0ACFD-43B3-002A-F509-A92DAB710CCF}"/>
              </a:ext>
            </a:extLst>
          </p:cNvPr>
          <p:cNvSpPr/>
          <p:nvPr/>
        </p:nvSpPr>
        <p:spPr>
          <a:xfrm>
            <a:off x="28699" y="1259547"/>
            <a:ext cx="60601" cy="4719405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 sz="16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399D542-7695-084C-F765-820B63A3921A}"/>
              </a:ext>
            </a:extLst>
          </p:cNvPr>
          <p:cNvSpPr/>
          <p:nvPr/>
        </p:nvSpPr>
        <p:spPr>
          <a:xfrm>
            <a:off x="193291" y="1477929"/>
            <a:ext cx="218073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spc="-4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600" spc="-4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10FDD0B-3850-8E50-6892-8CC06EA745D9}"/>
              </a:ext>
            </a:extLst>
          </p:cNvPr>
          <p:cNvSpPr/>
          <p:nvPr/>
        </p:nvSpPr>
        <p:spPr>
          <a:xfrm>
            <a:off x="193291" y="1901066"/>
            <a:ext cx="19852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Level</a:t>
            </a:r>
            <a:endParaRPr lang="en-US" sz="14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8C0AE2F8-EBE1-8A7D-3CD8-A459CD9FE56E}"/>
              </a:ext>
            </a:extLst>
          </p:cNvPr>
          <p:cNvSpPr/>
          <p:nvPr/>
        </p:nvSpPr>
        <p:spPr>
          <a:xfrm>
            <a:off x="2478013" y="1259547"/>
            <a:ext cx="2324370" cy="4719405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 sz="16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94979E55-C47F-A8E1-8C86-BD36B0DE2ADB}"/>
              </a:ext>
            </a:extLst>
          </p:cNvPr>
          <p:cNvSpPr/>
          <p:nvPr/>
        </p:nvSpPr>
        <p:spPr>
          <a:xfrm>
            <a:off x="2478013" y="1259547"/>
            <a:ext cx="60601" cy="4719405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de-DE" sz="16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04D6244-796F-5C6D-74A4-BC81BC7B2FF8}"/>
              </a:ext>
            </a:extLst>
          </p:cNvPr>
          <p:cNvSpPr/>
          <p:nvPr/>
        </p:nvSpPr>
        <p:spPr>
          <a:xfrm>
            <a:off x="2642605" y="1477929"/>
            <a:ext cx="218073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spc="-40" dirty="0" err="1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issues_snapshot</a:t>
            </a:r>
            <a:endParaRPr lang="en-US" sz="1600" spc="-4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7605F6E-527E-4391-E761-DAA7937CD8AD}"/>
              </a:ext>
            </a:extLst>
          </p:cNvPr>
          <p:cNvSpPr/>
          <p:nvPr/>
        </p:nvSpPr>
        <p:spPr>
          <a:xfrm>
            <a:off x="2642605" y="1901066"/>
            <a:ext cx="19852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Level</a:t>
            </a:r>
            <a:endParaRPr lang="en-US" sz="14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EC901B7-0D11-1C98-0459-B7C5169FA67D}"/>
              </a:ext>
            </a:extLst>
          </p:cNvPr>
          <p:cNvSpPr/>
          <p:nvPr/>
        </p:nvSpPr>
        <p:spPr>
          <a:xfrm>
            <a:off x="4927327" y="1259547"/>
            <a:ext cx="2324370" cy="4719405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 sz="160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E620D0F3-5E40-006B-8E8F-0036E79C3979}"/>
              </a:ext>
            </a:extLst>
          </p:cNvPr>
          <p:cNvSpPr/>
          <p:nvPr/>
        </p:nvSpPr>
        <p:spPr>
          <a:xfrm>
            <a:off x="4927327" y="1259547"/>
            <a:ext cx="60601" cy="4719405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 sz="16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6FAE64D-4CCC-BDE3-3CD2-7C46F44C82AC}"/>
              </a:ext>
            </a:extLst>
          </p:cNvPr>
          <p:cNvSpPr/>
          <p:nvPr/>
        </p:nvSpPr>
        <p:spPr>
          <a:xfrm>
            <a:off x="5091919" y="1477929"/>
            <a:ext cx="218073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spc="-40" dirty="0" err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issues_snapshot_sample</a:t>
            </a:r>
            <a:endParaRPr lang="en-US" sz="1600" spc="-4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6AD9A34-DB97-0EFA-1EE1-000B7BB73B91}"/>
              </a:ext>
            </a:extLst>
          </p:cNvPr>
          <p:cNvSpPr/>
          <p:nvPr/>
        </p:nvSpPr>
        <p:spPr>
          <a:xfrm>
            <a:off x="5091919" y="1901066"/>
            <a:ext cx="19852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Labeled Sample</a:t>
            </a:r>
            <a:endParaRPr lang="en-US" sz="14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9DCEC569-328A-35AA-991A-C0D4EFAEC680}"/>
              </a:ext>
            </a:extLst>
          </p:cNvPr>
          <p:cNvSpPr/>
          <p:nvPr/>
        </p:nvSpPr>
        <p:spPr>
          <a:xfrm>
            <a:off x="7394569" y="1259547"/>
            <a:ext cx="2324370" cy="4719405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 sz="160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CDBB148C-73DB-8A3B-0A28-3A12A41F2DA5}"/>
              </a:ext>
            </a:extLst>
          </p:cNvPr>
          <p:cNvSpPr/>
          <p:nvPr/>
        </p:nvSpPr>
        <p:spPr>
          <a:xfrm>
            <a:off x="7394569" y="1259547"/>
            <a:ext cx="60601" cy="471940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de-DE" sz="160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C99487C-7D17-162B-0333-1587E6FD1C90}"/>
              </a:ext>
            </a:extLst>
          </p:cNvPr>
          <p:cNvSpPr/>
          <p:nvPr/>
        </p:nvSpPr>
        <p:spPr>
          <a:xfrm>
            <a:off x="7559161" y="1477929"/>
            <a:ext cx="218073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spc="-40" dirty="0" err="1">
                <a:solidFill>
                  <a:srgbClr val="A78BFA"/>
                </a:solidFill>
                <a:latin typeface="Calibri" pitchFamily="34" charset="0"/>
                <a:cs typeface="Calibri" pitchFamily="34" charset="-120"/>
              </a:rPr>
              <a:t>sample_utterances</a:t>
            </a:r>
            <a:endParaRPr lang="en-US" sz="1600" spc="-4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9AD1FB8-AA85-E574-05C2-4DD611EFEE46}"/>
              </a:ext>
            </a:extLst>
          </p:cNvPr>
          <p:cNvSpPr/>
          <p:nvPr/>
        </p:nvSpPr>
        <p:spPr>
          <a:xfrm>
            <a:off x="7559161" y="1901066"/>
            <a:ext cx="19852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 Level</a:t>
            </a:r>
            <a:endParaRPr lang="en-US" sz="1400" dirty="0"/>
          </a:p>
        </p:txBody>
      </p:sp>
      <p:graphicFrame>
        <p:nvGraphicFramePr>
          <p:cNvPr id="27" name="Tabelle 26">
            <a:extLst>
              <a:ext uri="{FF2B5EF4-FFF2-40B4-BE49-F238E27FC236}">
                <a16:creationId xmlns:a16="http://schemas.microsoft.com/office/drawing/2014/main" id="{C707507D-60B8-1090-8BDA-55416977A7E3}"/>
              </a:ext>
            </a:extLst>
          </p:cNvPr>
          <p:cNvGraphicFramePr>
            <a:graphicFrameLocks noGrp="1"/>
          </p:cNvGraphicFramePr>
          <p:nvPr/>
        </p:nvGraphicFramePr>
        <p:xfrm>
          <a:off x="155999" y="6581987"/>
          <a:ext cx="118800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83113111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420813297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227425320"/>
                    </a:ext>
                  </a:extLst>
                </a:gridCol>
              </a:tblGrid>
              <a:tr h="228222">
                <a:tc>
                  <a:txBody>
                    <a:bodyPr/>
                    <a:lstStyle/>
                    <a:p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Project Defense  |  24 Feb 2026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b="0" dirty="0" err="1">
                          <a:solidFill>
                            <a:srgbClr val="94A3B8"/>
                          </a:solidFill>
                        </a:rPr>
                        <a:t>DataScientest</a:t>
                      </a:r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  |  Liora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Christian Gebert  |  Marina Pfeifer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46930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CF26ECD1-A4BA-D268-2C5A-DA773C6EFA21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Shape 17">
            <a:extLst>
              <a:ext uri="{FF2B5EF4-FFF2-40B4-BE49-F238E27FC236}">
                <a16:creationId xmlns:a16="http://schemas.microsoft.com/office/drawing/2014/main" id="{5C5874F6-4A28-9B66-DD3E-A0E3B342FA12}"/>
              </a:ext>
            </a:extLst>
          </p:cNvPr>
          <p:cNvSpPr/>
          <p:nvPr/>
        </p:nvSpPr>
        <p:spPr>
          <a:xfrm>
            <a:off x="9822930" y="1259547"/>
            <a:ext cx="2324370" cy="4719405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 sz="1600"/>
          </a:p>
        </p:txBody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EB9F8BEC-FB68-4A8C-02D0-EE99D8B564DB}"/>
              </a:ext>
            </a:extLst>
          </p:cNvPr>
          <p:cNvSpPr/>
          <p:nvPr/>
        </p:nvSpPr>
        <p:spPr>
          <a:xfrm>
            <a:off x="9822930" y="1259547"/>
            <a:ext cx="60601" cy="471940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de-DE" sz="1600"/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A6283937-AB54-AEC4-8E6E-0289F0F53932}"/>
              </a:ext>
            </a:extLst>
          </p:cNvPr>
          <p:cNvSpPr/>
          <p:nvPr/>
        </p:nvSpPr>
        <p:spPr>
          <a:xfrm>
            <a:off x="9987522" y="1477929"/>
            <a:ext cx="218073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spc="-40" dirty="0" err="1">
                <a:solidFill>
                  <a:schemeClr val="accent2"/>
                </a:solidFill>
                <a:latin typeface="Calibri" pitchFamily="34" charset="0"/>
                <a:cs typeface="Calibri" pitchFamily="34" charset="-120"/>
              </a:rPr>
              <a:t>sample_change_history</a:t>
            </a:r>
            <a:endParaRPr lang="en-US" sz="1600" spc="-40" dirty="0">
              <a:solidFill>
                <a:schemeClr val="accent2"/>
              </a:solidFill>
            </a:endParaRPr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C777A3ED-6568-63F7-6912-7505AA74A68C}"/>
              </a:ext>
            </a:extLst>
          </p:cNvPr>
          <p:cNvSpPr/>
          <p:nvPr/>
        </p:nvSpPr>
        <p:spPr>
          <a:xfrm>
            <a:off x="9987522" y="1901066"/>
            <a:ext cx="19852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14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902AA83-76ED-0B53-9D47-302897566FED}"/>
              </a:ext>
            </a:extLst>
          </p:cNvPr>
          <p:cNvSpPr txBox="1"/>
          <p:nvPr/>
        </p:nvSpPr>
        <p:spPr>
          <a:xfrm>
            <a:off x="193291" y="2530097"/>
            <a:ext cx="21418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priority</a:t>
            </a:r>
            <a:r>
              <a:rPr lang="de-DE" sz="1400" dirty="0">
                <a:solidFill>
                  <a:srgbClr val="94A3B8"/>
                </a:solidFill>
              </a:rPr>
              <a:t>,</a:t>
            </a: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>
                <a:solidFill>
                  <a:srgbClr val="94A3B8"/>
                </a:solidFill>
              </a:rPr>
              <a:t>type,</a:t>
            </a: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project</a:t>
            </a:r>
            <a:r>
              <a:rPr lang="de-DE" sz="1400" dirty="0">
                <a:solidFill>
                  <a:srgbClr val="94A3B8"/>
                </a:solidFill>
              </a:rPr>
              <a:t>, </a:t>
            </a: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timestamps</a:t>
            </a:r>
            <a:r>
              <a:rPr lang="de-DE" sz="1400" dirty="0">
                <a:solidFill>
                  <a:srgbClr val="94A3B8"/>
                </a:solidFill>
              </a:rPr>
              <a:t>, </a:t>
            </a: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workflow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aggregates</a:t>
            </a:r>
            <a:r>
              <a:rPr lang="de-DE" sz="1400" dirty="0">
                <a:solidFill>
                  <a:srgbClr val="94A3B8"/>
                </a:solidFill>
              </a:rPr>
              <a:t> (</a:t>
            </a:r>
            <a:r>
              <a:rPr lang="de-DE" sz="1400" dirty="0" err="1">
                <a:solidFill>
                  <a:srgbClr val="94A3B8"/>
                </a:solidFill>
              </a:rPr>
              <a:t>wf</a:t>
            </a:r>
            <a:r>
              <a:rPr lang="de-DE" sz="1400" dirty="0">
                <a:solidFill>
                  <a:srgbClr val="94A3B8"/>
                </a:solidFill>
              </a:rPr>
              <a:t>_*, </a:t>
            </a:r>
            <a:r>
              <a:rPr lang="de-DE" sz="1400" dirty="0" err="1">
                <a:solidFill>
                  <a:srgbClr val="94A3B8"/>
                </a:solidFill>
              </a:rPr>
              <a:t>wfe</a:t>
            </a:r>
            <a:r>
              <a:rPr lang="de-DE" sz="1400" dirty="0">
                <a:solidFill>
                  <a:srgbClr val="94A3B8"/>
                </a:solidFill>
              </a:rPr>
              <a:t>_*, </a:t>
            </a:r>
            <a:r>
              <a:rPr lang="de-DE" sz="1400" dirty="0" err="1">
                <a:solidFill>
                  <a:srgbClr val="94A3B8"/>
                </a:solidFill>
              </a:rPr>
              <a:t>wf_total_time</a:t>
            </a:r>
            <a:r>
              <a:rPr lang="de-DE" sz="1400" dirty="0">
                <a:solidFill>
                  <a:srgbClr val="94A3B8"/>
                </a:solidFill>
              </a:rPr>
              <a:t>)</a:t>
            </a: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B894F21-A3CE-E203-4131-43606F8DF766}"/>
              </a:ext>
            </a:extLst>
          </p:cNvPr>
          <p:cNvSpPr txBox="1"/>
          <p:nvPr/>
        </p:nvSpPr>
        <p:spPr>
          <a:xfrm>
            <a:off x="2642605" y="2530097"/>
            <a:ext cx="2123431" cy="130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rgbClr val="94A3B8"/>
                </a:solidFill>
              </a:rPr>
              <a:t>splits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tickets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into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rgbClr val="94A3B8"/>
                </a:solidFill>
              </a:rPr>
              <a:t>assignee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turns</a:t>
            </a:r>
            <a:r>
              <a:rPr lang="de-DE" sz="1400" dirty="0">
                <a:solidFill>
                  <a:srgbClr val="94A3B8"/>
                </a:solidFill>
              </a:rPr>
              <a:t> (</a:t>
            </a:r>
            <a:r>
              <a:rPr lang="de-DE" sz="1400" dirty="0" err="1">
                <a:solidFill>
                  <a:srgbClr val="94A3B8"/>
                </a:solidFill>
              </a:rPr>
              <a:t>started</a:t>
            </a:r>
            <a:r>
              <a:rPr lang="de-DE" sz="1400" dirty="0">
                <a:solidFill>
                  <a:srgbClr val="94A3B8"/>
                </a:solidFill>
              </a:rPr>
              <a:t>, </a:t>
            </a:r>
            <a:r>
              <a:rPr lang="de-DE" sz="1400" dirty="0" err="1">
                <a:solidFill>
                  <a:srgbClr val="94A3B8"/>
                </a:solidFill>
              </a:rPr>
              <a:t>ended</a:t>
            </a:r>
            <a:r>
              <a:rPr lang="de-DE" sz="1400" dirty="0">
                <a:solidFill>
                  <a:srgbClr val="94A3B8"/>
                </a:solidFill>
              </a:rPr>
              <a:t>, turn);</a:t>
            </a:r>
          </a:p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rgbClr val="94A3B8"/>
                </a:solidFill>
              </a:rPr>
              <a:t>allocates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workflow</a:t>
            </a:r>
            <a:r>
              <a:rPr lang="de-DE" sz="1400" dirty="0">
                <a:solidFill>
                  <a:srgbClr val="94A3B8"/>
                </a:solidFill>
              </a:rPr>
              <a:t> time per </a:t>
            </a:r>
            <a:r>
              <a:rPr lang="de-DE" sz="1400" dirty="0" err="1">
                <a:solidFill>
                  <a:srgbClr val="94A3B8"/>
                </a:solidFill>
              </a:rPr>
              <a:t>assignee</a:t>
            </a:r>
            <a:endParaRPr lang="de-DE" sz="1400" dirty="0">
              <a:solidFill>
                <a:srgbClr val="94A3B8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9AACA444-9199-9D53-3788-AABE930B7611}"/>
              </a:ext>
            </a:extLst>
          </p:cNvPr>
          <p:cNvSpPr txBox="1"/>
          <p:nvPr/>
        </p:nvSpPr>
        <p:spPr>
          <a:xfrm>
            <a:off x="5130800" y="2530097"/>
            <a:ext cx="207014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manager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ratings</a:t>
            </a:r>
            <a:br>
              <a:rPr lang="de-DE" sz="1400" dirty="0">
                <a:solidFill>
                  <a:srgbClr val="94A3B8"/>
                </a:solidFill>
              </a:rPr>
            </a:br>
            <a:r>
              <a:rPr lang="de-DE" sz="1400" dirty="0">
                <a:solidFill>
                  <a:srgbClr val="94A3B8"/>
                </a:solidFill>
              </a:rPr>
              <a:t>(Q1/Q2/Q3)</a:t>
            </a: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spent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hours</a:t>
            </a: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steps</a:t>
            </a: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comments</a:t>
            </a:r>
            <a:r>
              <a:rPr lang="de-DE" sz="1400" dirty="0">
                <a:solidFill>
                  <a:srgbClr val="94A3B8"/>
                </a:solidFill>
              </a:rPr>
              <a:t>,</a:t>
            </a: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validity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flag</a:t>
            </a: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dirty="0" err="1">
                <a:solidFill>
                  <a:srgbClr val="94A3B8"/>
                </a:solidFill>
              </a:rPr>
              <a:t>notes</a:t>
            </a:r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Symbol" pitchFamily="2" charset="2"/>
              <a:buChar char="-"/>
            </a:pPr>
            <a:endParaRPr lang="de-DE" sz="1400" dirty="0">
              <a:solidFill>
                <a:srgbClr val="94A3B8"/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515057F-F2D6-BE59-2A5C-CDA719A3E4E6}"/>
              </a:ext>
            </a:extLst>
          </p:cNvPr>
          <p:cNvSpPr txBox="1"/>
          <p:nvPr/>
        </p:nvSpPr>
        <p:spPr>
          <a:xfrm>
            <a:off x="7590203" y="2530097"/>
            <a:ext cx="2180731" cy="1060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rgbClr val="94A3B8"/>
                </a:solidFill>
              </a:rPr>
              <a:t>communication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signals</a:t>
            </a:r>
            <a:r>
              <a:rPr lang="de-DE" sz="1400" dirty="0">
                <a:solidFill>
                  <a:srgbClr val="94A3B8"/>
                </a:solidFill>
              </a:rPr>
              <a:t> (</a:t>
            </a:r>
            <a:r>
              <a:rPr lang="de-DE" sz="1400" dirty="0" err="1">
                <a:solidFill>
                  <a:srgbClr val="94A3B8"/>
                </a:solidFill>
              </a:rPr>
              <a:t>roles</a:t>
            </a:r>
            <a:r>
              <a:rPr lang="de-DE" sz="1400" dirty="0">
                <a:solidFill>
                  <a:srgbClr val="94A3B8"/>
                </a:solidFill>
              </a:rPr>
              <a:t>, </a:t>
            </a:r>
            <a:r>
              <a:rPr lang="de-DE" sz="1400" dirty="0" err="1">
                <a:solidFill>
                  <a:srgbClr val="94A3B8"/>
                </a:solidFill>
              </a:rPr>
              <a:t>privacy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flags</a:t>
            </a:r>
            <a:r>
              <a:rPr lang="de-DE" sz="1400" dirty="0">
                <a:solidFill>
                  <a:srgbClr val="94A3B8"/>
                </a:solidFill>
              </a:rPr>
              <a:t>, </a:t>
            </a:r>
            <a:r>
              <a:rPr lang="de-DE" sz="1400" dirty="0" err="1">
                <a:solidFill>
                  <a:srgbClr val="94A3B8"/>
                </a:solidFill>
              </a:rPr>
              <a:t>masked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text</a:t>
            </a:r>
            <a:r>
              <a:rPr lang="de-DE" sz="1400" dirty="0">
                <a:solidFill>
                  <a:srgbClr val="94A3B8"/>
                </a:solidFill>
              </a:rPr>
              <a:t>)</a:t>
            </a:r>
          </a:p>
          <a:p>
            <a:pPr>
              <a:lnSpc>
                <a:spcPct val="114000"/>
              </a:lnSpc>
            </a:pPr>
            <a:endParaRPr lang="de-DE" sz="1400" dirty="0">
              <a:solidFill>
                <a:srgbClr val="94A3B8"/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B9A8C3DC-16D6-4C08-BB62-893D42D2B7B2}"/>
              </a:ext>
            </a:extLst>
          </p:cNvPr>
          <p:cNvSpPr txBox="1"/>
          <p:nvPr/>
        </p:nvSpPr>
        <p:spPr>
          <a:xfrm>
            <a:off x="10031400" y="2530097"/>
            <a:ext cx="1742837" cy="81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rgbClr val="94A3B8"/>
                </a:solidFill>
              </a:rPr>
              <a:t>assignee</a:t>
            </a:r>
            <a:r>
              <a:rPr lang="de-DE" sz="1400" dirty="0">
                <a:solidFill>
                  <a:srgbClr val="94A3B8"/>
                </a:solidFill>
              </a:rPr>
              <a:t>/</a:t>
            </a:r>
            <a:r>
              <a:rPr lang="de-DE" sz="1400" dirty="0" err="1">
                <a:solidFill>
                  <a:srgbClr val="94A3B8"/>
                </a:solidFill>
              </a:rPr>
              <a:t>status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changes</a:t>
            </a:r>
            <a:r>
              <a:rPr lang="de-DE" sz="1400" dirty="0">
                <a:solidFill>
                  <a:srgbClr val="94A3B8"/>
                </a:solidFill>
              </a:rPr>
              <a:t> </a:t>
            </a:r>
            <a:r>
              <a:rPr lang="de-DE" sz="1400" dirty="0" err="1">
                <a:solidFill>
                  <a:srgbClr val="94A3B8"/>
                </a:solidFill>
              </a:rPr>
              <a:t>over</a:t>
            </a:r>
            <a:r>
              <a:rPr lang="de-DE" sz="1400" dirty="0">
                <a:solidFill>
                  <a:srgbClr val="94A3B8"/>
                </a:solidFill>
              </a:rPr>
              <a:t> time</a:t>
            </a:r>
          </a:p>
          <a:p>
            <a:pPr>
              <a:lnSpc>
                <a:spcPct val="114000"/>
              </a:lnSpc>
            </a:pPr>
            <a:endParaRPr lang="de-DE" sz="1400" dirty="0">
              <a:solidFill>
                <a:srgbClr val="94A3B8"/>
              </a:solidFill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C457FEBD-9BE4-457B-CE52-A4B18BFE44FF}"/>
              </a:ext>
            </a:extLst>
          </p:cNvPr>
          <p:cNvSpPr/>
          <p:nvPr/>
        </p:nvSpPr>
        <p:spPr>
          <a:xfrm>
            <a:off x="1283656" y="6746780"/>
            <a:ext cx="47928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endParaRPr lang="en-US" sz="1200" dirty="0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1401B30-76C1-6C2C-F348-0FE201513AA2}"/>
              </a:ext>
            </a:extLst>
          </p:cNvPr>
          <p:cNvSpPr txBox="1"/>
          <p:nvPr/>
        </p:nvSpPr>
        <p:spPr>
          <a:xfrm>
            <a:off x="97279" y="5604280"/>
            <a:ext cx="2141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66,691×58</a:t>
            </a:r>
            <a:endParaRPr lang="en-US" sz="1400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7DDD7C6-0CDD-ECAD-6D19-5B0EDCD637AC}"/>
              </a:ext>
            </a:extLst>
          </p:cNvPr>
          <p:cNvSpPr txBox="1"/>
          <p:nvPr/>
        </p:nvSpPr>
        <p:spPr>
          <a:xfrm>
            <a:off x="2621652" y="5601409"/>
            <a:ext cx="2141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90,963×60</a:t>
            </a:r>
            <a:endParaRPr lang="en-US" sz="14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3BEBF5C4-39DD-2789-4CF4-6B2169FB8890}"/>
              </a:ext>
            </a:extLst>
          </p:cNvPr>
          <p:cNvSpPr txBox="1"/>
          <p:nvPr/>
        </p:nvSpPr>
        <p:spPr>
          <a:xfrm>
            <a:off x="10206468" y="5586329"/>
            <a:ext cx="1742837" cy="315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257,508×6</a:t>
            </a:r>
            <a:endParaRPr lang="en-US" sz="14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CA825366-382B-DB18-56DE-4299A2D6B495}"/>
              </a:ext>
            </a:extLst>
          </p:cNvPr>
          <p:cNvSpPr txBox="1"/>
          <p:nvPr/>
        </p:nvSpPr>
        <p:spPr>
          <a:xfrm>
            <a:off x="5104850" y="5601409"/>
            <a:ext cx="2141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747×19 (Q1–Q3 labels)</a:t>
            </a:r>
            <a:endParaRPr lang="en-US" sz="1400" dirty="0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C32D2D8B-9AF5-F12D-8A50-0C4D18820837}"/>
              </a:ext>
            </a:extLst>
          </p:cNvPr>
          <p:cNvSpPr txBox="1"/>
          <p:nvPr/>
        </p:nvSpPr>
        <p:spPr>
          <a:xfrm>
            <a:off x="7538208" y="5593869"/>
            <a:ext cx="2141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30,104×9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0417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D06D0-049A-8C84-96F5-8967B0484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1">
            <a:extLst>
              <a:ext uri="{FF2B5EF4-FFF2-40B4-BE49-F238E27FC236}">
                <a16:creationId xmlns:a16="http://schemas.microsoft.com/office/drawing/2014/main" id="{025BF9C2-E0A8-60FB-D812-6790666435DD}"/>
              </a:ext>
            </a:extLst>
          </p:cNvPr>
          <p:cNvSpPr/>
          <p:nvPr/>
        </p:nvSpPr>
        <p:spPr>
          <a:xfrm>
            <a:off x="548639" y="4711413"/>
            <a:ext cx="11094415" cy="1324029"/>
          </a:xfrm>
          <a:prstGeom prst="roundRect">
            <a:avLst>
              <a:gd name="adj" fmla="val 15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Shape 31">
            <a:extLst>
              <a:ext uri="{FF2B5EF4-FFF2-40B4-BE49-F238E27FC236}">
                <a16:creationId xmlns:a16="http://schemas.microsoft.com/office/drawing/2014/main" id="{807A17A8-21A9-F564-2B3D-CFB9C1F2D1B2}"/>
              </a:ext>
            </a:extLst>
          </p:cNvPr>
          <p:cNvSpPr/>
          <p:nvPr/>
        </p:nvSpPr>
        <p:spPr>
          <a:xfrm>
            <a:off x="548639" y="2697550"/>
            <a:ext cx="11094415" cy="1847970"/>
          </a:xfrm>
          <a:prstGeom prst="roundRect">
            <a:avLst>
              <a:gd name="adj" fmla="val 928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4" name="Shape 31">
            <a:extLst>
              <a:ext uri="{FF2B5EF4-FFF2-40B4-BE49-F238E27FC236}">
                <a16:creationId xmlns:a16="http://schemas.microsoft.com/office/drawing/2014/main" id="{4CBF7E51-658A-46E4-6ADB-77811F976BE4}"/>
              </a:ext>
            </a:extLst>
          </p:cNvPr>
          <p:cNvSpPr/>
          <p:nvPr/>
        </p:nvSpPr>
        <p:spPr>
          <a:xfrm>
            <a:off x="548639" y="1105956"/>
            <a:ext cx="11094415" cy="1481927"/>
          </a:xfrm>
          <a:prstGeom prst="roundRect">
            <a:avLst>
              <a:gd name="adj" fmla="val 1206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C0DB483-D7F2-A1B7-B56E-373742BC50B5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84798C-AD95-7A44-C50E-14C2F3AEC20B}"/>
              </a:ext>
            </a:extLst>
          </p:cNvPr>
          <p:cNvSpPr/>
          <p:nvPr/>
        </p:nvSpPr>
        <p:spPr>
          <a:xfrm>
            <a:off x="777240" y="1166144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Q-Score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0A99F65-67F2-D30D-5DCF-7DBD2D7072E5}"/>
              </a:ext>
            </a:extLst>
          </p:cNvPr>
          <p:cNvSpPr/>
          <p:nvPr/>
        </p:nvSpPr>
        <p:spPr>
          <a:xfrm>
            <a:off x="685800" y="1499832"/>
            <a:ext cx="1063721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CE235CE4-41B0-0CEE-A6D1-0740FF2FB74B}"/>
              </a:ext>
            </a:extLst>
          </p:cNvPr>
          <p:cNvSpPr/>
          <p:nvPr/>
        </p:nvSpPr>
        <p:spPr>
          <a:xfrm>
            <a:off x="548640" y="354104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MEASURES</a:t>
            </a:r>
            <a:endParaRPr lang="en-US" sz="2800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D6A1B9F3-8439-C021-2AE3-EACCB4B53770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DA559BE2-4B84-EECE-B444-6DD4B2E6764A}"/>
              </a:ext>
            </a:extLst>
          </p:cNvPr>
          <p:cNvSpPr/>
          <p:nvPr/>
        </p:nvSpPr>
        <p:spPr>
          <a:xfrm>
            <a:off x="777240" y="2818055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O-Score</a:t>
            </a:r>
            <a:endParaRPr lang="en-US" sz="140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3CDD6E3F-6B19-E8B9-F7ED-70DD129B8CA1}"/>
              </a:ext>
            </a:extLst>
          </p:cNvPr>
          <p:cNvSpPr/>
          <p:nvPr/>
        </p:nvSpPr>
        <p:spPr>
          <a:xfrm>
            <a:off x="685800" y="3151743"/>
            <a:ext cx="1063721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A1F42009-06EA-CD53-0E68-958C990677ED}"/>
              </a:ext>
            </a:extLst>
          </p:cNvPr>
          <p:cNvSpPr/>
          <p:nvPr/>
        </p:nvSpPr>
        <p:spPr>
          <a:xfrm>
            <a:off x="777240" y="4792006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Performer Cluster</a:t>
            </a:r>
            <a:endParaRPr lang="en-US" sz="1400" dirty="0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8F58123F-FA5D-C2EB-0B2A-BD6D7A79B5AA}"/>
              </a:ext>
            </a:extLst>
          </p:cNvPr>
          <p:cNvSpPr/>
          <p:nvPr/>
        </p:nvSpPr>
        <p:spPr>
          <a:xfrm>
            <a:off x="685800" y="5125694"/>
            <a:ext cx="1063721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09E7F712-E50F-B8FD-ACF6-62400101D3E7}"/>
              </a:ext>
            </a:extLst>
          </p:cNvPr>
          <p:cNvSpPr txBox="1"/>
          <p:nvPr/>
        </p:nvSpPr>
        <p:spPr>
          <a:xfrm>
            <a:off x="777239" y="1336444"/>
            <a:ext cx="648336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sz="1400" dirty="0">
              <a:solidFill>
                <a:srgbClr val="94A3B8"/>
              </a:solidFill>
            </a:endParaRPr>
          </a:p>
          <a:p>
            <a:pPr marL="285750" indent="-285750">
              <a:buFont typeface="Wingdings" pitchFamily="2" charset="2"/>
              <a:buChar char="à"/>
            </a:pPr>
            <a:r>
              <a:rPr lang="de-DE" sz="1400" b="1" dirty="0">
                <a:solidFill>
                  <a:srgbClr val="94A3B8"/>
                </a:solidFill>
              </a:rPr>
              <a:t>Manager Ratings (</a:t>
            </a:r>
            <a:r>
              <a:rPr lang="de-DE" sz="1400" b="1" dirty="0" err="1">
                <a:solidFill>
                  <a:srgbClr val="94A3B8"/>
                </a:solidFill>
              </a:rPr>
              <a:t>subjective</a:t>
            </a:r>
            <a:r>
              <a:rPr lang="de-DE" sz="1400" b="1" dirty="0">
                <a:solidFill>
                  <a:srgbClr val="94A3B8"/>
                </a:solidFill>
              </a:rPr>
              <a:t>)</a:t>
            </a:r>
          </a:p>
          <a:p>
            <a:pPr marL="323850"/>
            <a:r>
              <a:rPr lang="de-DE" sz="1400" dirty="0">
                <a:solidFill>
                  <a:srgbClr val="94A3B8"/>
                </a:solidFill>
              </a:rPr>
              <a:t>Q1 – Quality </a:t>
            </a:r>
            <a:r>
              <a:rPr lang="de-DE" sz="1400" dirty="0" err="1">
                <a:solidFill>
                  <a:srgbClr val="94A3B8"/>
                </a:solidFill>
              </a:rPr>
              <a:t>of</a:t>
            </a:r>
            <a:r>
              <a:rPr lang="de-DE" sz="1400" dirty="0">
                <a:solidFill>
                  <a:srgbClr val="94A3B8"/>
                </a:solidFill>
              </a:rPr>
              <a:t> Work: 	</a:t>
            </a:r>
            <a:r>
              <a:rPr lang="de-DE" sz="1400" dirty="0" err="1">
                <a:solidFill>
                  <a:srgbClr val="94A3B8"/>
                </a:solidFill>
              </a:rPr>
              <a:t>Accuracy</a:t>
            </a:r>
            <a:r>
              <a:rPr lang="de-DE" sz="1400" dirty="0">
                <a:solidFill>
                  <a:srgbClr val="94A3B8"/>
                </a:solidFill>
              </a:rPr>
              <a:t> &amp; </a:t>
            </a:r>
            <a:r>
              <a:rPr lang="de-DE" sz="1400" dirty="0" err="1">
                <a:solidFill>
                  <a:srgbClr val="94A3B8"/>
                </a:solidFill>
              </a:rPr>
              <a:t>precision</a:t>
            </a:r>
            <a:endParaRPr lang="de-DE" sz="1400" dirty="0">
              <a:solidFill>
                <a:srgbClr val="94A3B8"/>
              </a:solidFill>
            </a:endParaRPr>
          </a:p>
          <a:p>
            <a:pPr marL="323850"/>
            <a:r>
              <a:rPr lang="de-DE" sz="1400" dirty="0">
                <a:solidFill>
                  <a:srgbClr val="94A3B8"/>
                </a:solidFill>
              </a:rPr>
              <a:t>Q2 – Quality </a:t>
            </a:r>
            <a:r>
              <a:rPr lang="de-DE" sz="1400" dirty="0" err="1">
                <a:solidFill>
                  <a:srgbClr val="94A3B8"/>
                </a:solidFill>
              </a:rPr>
              <a:t>of</a:t>
            </a:r>
            <a:r>
              <a:rPr lang="de-DE" sz="1400" dirty="0">
                <a:solidFill>
                  <a:srgbClr val="94A3B8"/>
                </a:solidFill>
              </a:rPr>
              <a:t> Work: 	</a:t>
            </a:r>
            <a:r>
              <a:rPr lang="de-DE" sz="1400" dirty="0" err="1">
                <a:solidFill>
                  <a:srgbClr val="94A3B8"/>
                </a:solidFill>
              </a:rPr>
              <a:t>Thoroughness</a:t>
            </a:r>
            <a:r>
              <a:rPr lang="de-DE" sz="1400" dirty="0">
                <a:solidFill>
                  <a:srgbClr val="94A3B8"/>
                </a:solidFill>
              </a:rPr>
              <a:t> &amp; </a:t>
            </a:r>
            <a:r>
              <a:rPr lang="de-DE" sz="1400" dirty="0" err="1">
                <a:solidFill>
                  <a:srgbClr val="94A3B8"/>
                </a:solidFill>
              </a:rPr>
              <a:t>completeness</a:t>
            </a:r>
            <a:endParaRPr lang="de-DE" sz="1400" dirty="0">
              <a:solidFill>
                <a:srgbClr val="94A3B8"/>
              </a:solidFill>
            </a:endParaRPr>
          </a:p>
          <a:p>
            <a:pPr marL="323850"/>
            <a:r>
              <a:rPr lang="de-DE" sz="1400" dirty="0">
                <a:solidFill>
                  <a:srgbClr val="94A3B8"/>
                </a:solidFill>
              </a:rPr>
              <a:t>Q3 – Client Relations: 	</a:t>
            </a:r>
            <a:r>
              <a:rPr lang="de-DE" sz="1400" dirty="0" err="1">
                <a:solidFill>
                  <a:srgbClr val="94A3B8"/>
                </a:solidFill>
              </a:rPr>
              <a:t>Responsiveness</a:t>
            </a:r>
            <a:r>
              <a:rPr lang="de-DE" sz="1400" dirty="0">
                <a:solidFill>
                  <a:srgbClr val="94A3B8"/>
                </a:solidFill>
              </a:rPr>
              <a:t> &amp; </a:t>
            </a:r>
            <a:r>
              <a:rPr lang="de-DE" sz="1400" dirty="0" err="1">
                <a:solidFill>
                  <a:srgbClr val="94A3B8"/>
                </a:solidFill>
              </a:rPr>
              <a:t>courteousness</a:t>
            </a:r>
            <a:endParaRPr lang="de-DE" sz="1400" dirty="0">
              <a:solidFill>
                <a:srgbClr val="94A3B8"/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3F0BB3D0-962B-E331-EDE0-07295250987A}"/>
              </a:ext>
            </a:extLst>
          </p:cNvPr>
          <p:cNvSpPr txBox="1"/>
          <p:nvPr/>
        </p:nvSpPr>
        <p:spPr>
          <a:xfrm>
            <a:off x="777239" y="3262253"/>
            <a:ext cx="967694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à"/>
            </a:pPr>
            <a:r>
              <a:rPr lang="de-DE" sz="1400" b="1" dirty="0">
                <a:solidFill>
                  <a:srgbClr val="94A3B8"/>
                </a:solidFill>
              </a:rPr>
              <a:t>Operational Composite Score (</a:t>
            </a:r>
            <a:r>
              <a:rPr lang="de-DE" sz="1400" b="1" dirty="0" err="1">
                <a:solidFill>
                  <a:srgbClr val="94A3B8"/>
                </a:solidFill>
              </a:rPr>
              <a:t>objective</a:t>
            </a:r>
            <a:r>
              <a:rPr lang="de-DE" sz="1400" b="1" dirty="0">
                <a:solidFill>
                  <a:srgbClr val="94A3B8"/>
                </a:solidFill>
              </a:rPr>
              <a:t>)</a:t>
            </a:r>
          </a:p>
          <a:p>
            <a:pPr marL="269875"/>
            <a:r>
              <a:rPr lang="de-DE" sz="1400" dirty="0">
                <a:solidFill>
                  <a:srgbClr val="94A3B8"/>
                </a:solidFill>
              </a:rPr>
              <a:t>Quality (35%): 		0% </a:t>
            </a:r>
            <a:r>
              <a:rPr lang="de-DE" sz="1400" dirty="0" err="1">
                <a:solidFill>
                  <a:srgbClr val="94A3B8"/>
                </a:solidFill>
              </a:rPr>
              <a:t>Reopen</a:t>
            </a:r>
            <a:r>
              <a:rPr lang="de-DE" sz="1400" dirty="0">
                <a:solidFill>
                  <a:srgbClr val="94A3B8"/>
                </a:solidFill>
              </a:rPr>
              <a:t> Rate (</a:t>
            </a:r>
            <a:r>
              <a:rPr lang="de-DE" sz="1400" dirty="0" err="1">
                <a:solidFill>
                  <a:srgbClr val="94A3B8"/>
                </a:solidFill>
              </a:rPr>
              <a:t>inverted</a:t>
            </a:r>
            <a:r>
              <a:rPr lang="de-DE" sz="1400" dirty="0">
                <a:solidFill>
                  <a:srgbClr val="94A3B8"/>
                </a:solidFill>
              </a:rPr>
              <a:t>) + 40% </a:t>
            </a:r>
            <a:r>
              <a:rPr lang="de-DE" sz="1400" dirty="0" err="1">
                <a:solidFill>
                  <a:srgbClr val="94A3B8"/>
                </a:solidFill>
              </a:rPr>
              <a:t>Success</a:t>
            </a:r>
            <a:r>
              <a:rPr lang="de-DE" sz="1400" dirty="0">
                <a:solidFill>
                  <a:srgbClr val="94A3B8"/>
                </a:solidFill>
              </a:rPr>
              <a:t> Rate</a:t>
            </a:r>
          </a:p>
          <a:p>
            <a:pPr marL="269875"/>
            <a:r>
              <a:rPr lang="de-DE" sz="1400" dirty="0">
                <a:solidFill>
                  <a:srgbClr val="94A3B8"/>
                </a:solidFill>
              </a:rPr>
              <a:t>Efficiency (25%): 		100% Processing Time (</a:t>
            </a:r>
            <a:r>
              <a:rPr lang="de-DE" sz="1400" dirty="0" err="1">
                <a:solidFill>
                  <a:srgbClr val="94A3B8"/>
                </a:solidFill>
              </a:rPr>
              <a:t>percentile</a:t>
            </a:r>
            <a:r>
              <a:rPr lang="de-DE" sz="1400" dirty="0">
                <a:solidFill>
                  <a:srgbClr val="94A3B8"/>
                </a:solidFill>
              </a:rPr>
              <a:t>, </a:t>
            </a:r>
            <a:r>
              <a:rPr lang="de-DE" sz="1400" dirty="0" err="1">
                <a:solidFill>
                  <a:srgbClr val="94A3B8"/>
                </a:solidFill>
              </a:rPr>
              <a:t>inverted</a:t>
            </a:r>
            <a:r>
              <a:rPr lang="de-DE" sz="1400" dirty="0">
                <a:solidFill>
                  <a:srgbClr val="94A3B8"/>
                </a:solidFill>
              </a:rPr>
              <a:t>)</a:t>
            </a:r>
          </a:p>
          <a:p>
            <a:pPr marL="269875"/>
            <a:r>
              <a:rPr lang="de-DE" sz="1400" dirty="0" err="1">
                <a:solidFill>
                  <a:srgbClr val="94A3B8"/>
                </a:solidFill>
              </a:rPr>
              <a:t>Productivity</a:t>
            </a:r>
            <a:r>
              <a:rPr lang="de-DE" sz="1400" dirty="0">
                <a:solidFill>
                  <a:srgbClr val="94A3B8"/>
                </a:solidFill>
              </a:rPr>
              <a:t> (20%): 		60% Ticket Volume 	   + 40% Processing </a:t>
            </a:r>
            <a:r>
              <a:rPr lang="de-DE" sz="1400" dirty="0" err="1">
                <a:solidFill>
                  <a:srgbClr val="94A3B8"/>
                </a:solidFill>
              </a:rPr>
              <a:t>Steps</a:t>
            </a:r>
            <a:r>
              <a:rPr lang="de-DE" sz="1400" dirty="0">
                <a:solidFill>
                  <a:srgbClr val="94A3B8"/>
                </a:solidFill>
              </a:rPr>
              <a:t> (</a:t>
            </a:r>
            <a:r>
              <a:rPr lang="de-DE" sz="1400" dirty="0" err="1">
                <a:solidFill>
                  <a:srgbClr val="94A3B8"/>
                </a:solidFill>
              </a:rPr>
              <a:t>inverted</a:t>
            </a:r>
            <a:r>
              <a:rPr lang="de-DE" sz="1400" dirty="0">
                <a:solidFill>
                  <a:srgbClr val="94A3B8"/>
                </a:solidFill>
              </a:rPr>
              <a:t>)</a:t>
            </a:r>
          </a:p>
          <a:p>
            <a:pPr marL="269875"/>
            <a:r>
              <a:rPr lang="de-DE" sz="1400" dirty="0">
                <a:solidFill>
                  <a:srgbClr val="94A3B8"/>
                </a:solidFill>
              </a:rPr>
              <a:t>Communication (20%): 	50% First-Touch Rate 	   + 50% Comment Deviation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C394B858-5269-8120-5B43-0248E5E9C904}"/>
              </a:ext>
            </a:extLst>
          </p:cNvPr>
          <p:cNvSpPr txBox="1"/>
          <p:nvPr/>
        </p:nvSpPr>
        <p:spPr>
          <a:xfrm>
            <a:off x="685800" y="5253692"/>
            <a:ext cx="96769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à"/>
            </a:pPr>
            <a:r>
              <a:rPr lang="de-DE" sz="1400" b="1" dirty="0">
                <a:solidFill>
                  <a:srgbClr val="94A3B8"/>
                </a:solidFill>
              </a:rPr>
              <a:t>K-</a:t>
            </a:r>
            <a:r>
              <a:rPr lang="de-DE" sz="1400" b="1" dirty="0" err="1">
                <a:solidFill>
                  <a:srgbClr val="94A3B8"/>
                </a:solidFill>
              </a:rPr>
              <a:t>Means</a:t>
            </a:r>
            <a:r>
              <a:rPr lang="de-DE" sz="1400" b="1" dirty="0">
                <a:solidFill>
                  <a:srgbClr val="94A3B8"/>
                </a:solidFill>
              </a:rPr>
              <a:t> Clustering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de-DE" sz="1400" b="1" dirty="0" err="1">
                <a:solidFill>
                  <a:srgbClr val="94A3B8"/>
                </a:solidFill>
              </a:rPr>
              <a:t>Agglomerative</a:t>
            </a:r>
            <a:endParaRPr lang="de-DE" sz="1400" b="1" dirty="0">
              <a:solidFill>
                <a:srgbClr val="94A3B8"/>
              </a:solidFill>
            </a:endParaRPr>
          </a:p>
          <a:p>
            <a:pPr marL="285750" indent="-285750">
              <a:buFont typeface="Wingdings" pitchFamily="2" charset="2"/>
              <a:buChar char="à"/>
            </a:pPr>
            <a:r>
              <a:rPr lang="de-DE" sz="1400" b="1" dirty="0">
                <a:solidFill>
                  <a:srgbClr val="94A3B8"/>
                </a:solidFill>
              </a:rPr>
              <a:t>DBSCAN</a:t>
            </a:r>
          </a:p>
        </p:txBody>
      </p:sp>
      <p:graphicFrame>
        <p:nvGraphicFramePr>
          <p:cNvPr id="56" name="Tabelle 55">
            <a:extLst>
              <a:ext uri="{FF2B5EF4-FFF2-40B4-BE49-F238E27FC236}">
                <a16:creationId xmlns:a16="http://schemas.microsoft.com/office/drawing/2014/main" id="{91751C21-8BDD-950C-D69D-E1133FF627D1}"/>
              </a:ext>
            </a:extLst>
          </p:cNvPr>
          <p:cNvGraphicFramePr>
            <a:graphicFrameLocks noGrp="1"/>
          </p:cNvGraphicFramePr>
          <p:nvPr/>
        </p:nvGraphicFramePr>
        <p:xfrm>
          <a:off x="155999" y="6581987"/>
          <a:ext cx="118800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83113111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420813297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227425320"/>
                    </a:ext>
                  </a:extLst>
                </a:gridCol>
              </a:tblGrid>
              <a:tr h="228222">
                <a:tc>
                  <a:txBody>
                    <a:bodyPr/>
                    <a:lstStyle/>
                    <a:p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Project Defense  |  24 Feb 2026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b="0" dirty="0" err="1">
                          <a:solidFill>
                            <a:srgbClr val="94A3B8"/>
                          </a:solidFill>
                        </a:rPr>
                        <a:t>DataScientest</a:t>
                      </a:r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  |  Liora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Christian Gebert  |  Marina Pfeifer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46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193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44901-73AB-1286-83AE-9599DCF1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5">
            <a:extLst>
              <a:ext uri="{FF2B5EF4-FFF2-40B4-BE49-F238E27FC236}">
                <a16:creationId xmlns:a16="http://schemas.microsoft.com/office/drawing/2014/main" id="{44FC34CE-0BF4-58A7-2A8F-4A66451C7AEF}"/>
              </a:ext>
            </a:extLst>
          </p:cNvPr>
          <p:cNvSpPr/>
          <p:nvPr/>
        </p:nvSpPr>
        <p:spPr>
          <a:xfrm>
            <a:off x="1150280" y="973790"/>
            <a:ext cx="9891132" cy="5531454"/>
          </a:xfrm>
          <a:prstGeom prst="roundRect">
            <a:avLst>
              <a:gd name="adj" fmla="val 523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2496E51-6589-AF44-EE18-BA91F226C73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C0E0B9D7-54D7-6E48-21C2-B799423EC40E}"/>
              </a:ext>
            </a:extLst>
          </p:cNvPr>
          <p:cNvSpPr/>
          <p:nvPr/>
        </p:nvSpPr>
        <p:spPr>
          <a:xfrm>
            <a:off x="548640" y="354104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2800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0B429E5-3918-B299-8273-23B487DE5642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9" name="Tabelle 28">
            <a:extLst>
              <a:ext uri="{FF2B5EF4-FFF2-40B4-BE49-F238E27FC236}">
                <a16:creationId xmlns:a16="http://schemas.microsoft.com/office/drawing/2014/main" id="{06D0BDF0-C6D5-3BAE-6FDE-AF4C063531E6}"/>
              </a:ext>
            </a:extLst>
          </p:cNvPr>
          <p:cNvGraphicFramePr>
            <a:graphicFrameLocks noGrp="1"/>
          </p:cNvGraphicFramePr>
          <p:nvPr/>
        </p:nvGraphicFramePr>
        <p:xfrm>
          <a:off x="155999" y="6581987"/>
          <a:ext cx="118800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83113111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420813297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227425320"/>
                    </a:ext>
                  </a:extLst>
                </a:gridCol>
              </a:tblGrid>
              <a:tr h="228222">
                <a:tc>
                  <a:txBody>
                    <a:bodyPr/>
                    <a:lstStyle/>
                    <a:p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Project Defense  |  24 Feb 2026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b="0" dirty="0" err="1">
                          <a:solidFill>
                            <a:srgbClr val="94A3B8"/>
                          </a:solidFill>
                        </a:rPr>
                        <a:t>DataScientest</a:t>
                      </a:r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  |  Liora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Christian Gebert  |  Marina Pfeifer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46930"/>
                  </a:ext>
                </a:extLst>
              </a:tr>
            </a:tbl>
          </a:graphicData>
        </a:graphic>
      </p:graphicFrame>
      <p:sp>
        <p:nvSpPr>
          <p:cNvPr id="37" name="Shape 9">
            <a:extLst>
              <a:ext uri="{FF2B5EF4-FFF2-40B4-BE49-F238E27FC236}">
                <a16:creationId xmlns:a16="http://schemas.microsoft.com/office/drawing/2014/main" id="{0EAB3160-5542-1232-C0D8-DD2D4456D538}"/>
              </a:ext>
            </a:extLst>
          </p:cNvPr>
          <p:cNvSpPr/>
          <p:nvPr/>
        </p:nvSpPr>
        <p:spPr>
          <a:xfrm flipH="1" flipV="1">
            <a:off x="3232773" y="1666365"/>
            <a:ext cx="1081" cy="4312587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E5CD7F37-FED9-90D0-8436-656690883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939" y="1071434"/>
            <a:ext cx="9277814" cy="533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7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A9345-EB13-A1E1-AF15-5938C860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5">
            <a:extLst>
              <a:ext uri="{FF2B5EF4-FFF2-40B4-BE49-F238E27FC236}">
                <a16:creationId xmlns:a16="http://schemas.microsoft.com/office/drawing/2014/main" id="{6D5D5B1A-8944-5D66-10EC-9ED362436225}"/>
              </a:ext>
            </a:extLst>
          </p:cNvPr>
          <p:cNvSpPr/>
          <p:nvPr/>
        </p:nvSpPr>
        <p:spPr>
          <a:xfrm>
            <a:off x="548639" y="1353157"/>
            <a:ext cx="11094415" cy="4882256"/>
          </a:xfrm>
          <a:prstGeom prst="roundRect">
            <a:avLst>
              <a:gd name="adj" fmla="val 523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6292464-0D75-89DF-02A2-3ADBB8CCE186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1CF9AE6D-2D4A-240C-7A99-F23677E52EF7}"/>
              </a:ext>
            </a:extLst>
          </p:cNvPr>
          <p:cNvSpPr/>
          <p:nvPr/>
        </p:nvSpPr>
        <p:spPr>
          <a:xfrm>
            <a:off x="548640" y="354104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2800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8353B4E-70DE-FCDA-688D-21771F322C8B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9" name="Tabelle 28">
            <a:extLst>
              <a:ext uri="{FF2B5EF4-FFF2-40B4-BE49-F238E27FC236}">
                <a16:creationId xmlns:a16="http://schemas.microsoft.com/office/drawing/2014/main" id="{A8D169F0-51B2-FADD-C172-456A3DF3427A}"/>
              </a:ext>
            </a:extLst>
          </p:cNvPr>
          <p:cNvGraphicFramePr>
            <a:graphicFrameLocks noGrp="1"/>
          </p:cNvGraphicFramePr>
          <p:nvPr/>
        </p:nvGraphicFramePr>
        <p:xfrm>
          <a:off x="155999" y="6581987"/>
          <a:ext cx="118800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83113111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420813297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227425320"/>
                    </a:ext>
                  </a:extLst>
                </a:gridCol>
              </a:tblGrid>
              <a:tr h="228222">
                <a:tc>
                  <a:txBody>
                    <a:bodyPr/>
                    <a:lstStyle/>
                    <a:p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Project Defense  |  24 Feb 2026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b="0" dirty="0" err="1">
                          <a:solidFill>
                            <a:srgbClr val="94A3B8"/>
                          </a:solidFill>
                        </a:rPr>
                        <a:t>DataScientest</a:t>
                      </a:r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  |  Liora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b="0" dirty="0">
                          <a:solidFill>
                            <a:srgbClr val="94A3B8"/>
                          </a:solidFill>
                        </a:rPr>
                        <a:t>Christian Gebert  |  Marina Pfeifer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46930"/>
                  </a:ext>
                </a:extLst>
              </a:tr>
            </a:tbl>
          </a:graphicData>
        </a:graphic>
      </p:graphicFrame>
      <p:sp>
        <p:nvSpPr>
          <p:cNvPr id="33" name="Textfeld 32">
            <a:extLst>
              <a:ext uri="{FF2B5EF4-FFF2-40B4-BE49-F238E27FC236}">
                <a16:creationId xmlns:a16="http://schemas.microsoft.com/office/drawing/2014/main" id="{9FB91D16-A988-AC78-DC48-B70FE8F64E37}"/>
              </a:ext>
            </a:extLst>
          </p:cNvPr>
          <p:cNvSpPr txBox="1"/>
          <p:nvPr/>
        </p:nvSpPr>
        <p:spPr>
          <a:xfrm>
            <a:off x="724286" y="1666366"/>
            <a:ext cx="10571899" cy="4486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 err="1">
                <a:solidFill>
                  <a:srgbClr val="94A3B8"/>
                </a:solidFill>
              </a:rPr>
              <a:t>Overview</a:t>
            </a:r>
            <a:r>
              <a:rPr lang="de-DE" sz="1600" dirty="0">
                <a:solidFill>
                  <a:srgbClr val="94A3B8"/>
                </a:solidFill>
              </a:rPr>
              <a:t>		High-level </a:t>
            </a:r>
            <a:r>
              <a:rPr lang="de-DE" sz="1600" dirty="0" err="1">
                <a:solidFill>
                  <a:srgbClr val="94A3B8"/>
                </a:solidFill>
              </a:rPr>
              <a:t>overview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of</a:t>
            </a:r>
            <a:r>
              <a:rPr lang="de-DE" sz="1600" dirty="0">
                <a:solidFill>
                  <a:srgbClr val="94A3B8"/>
                </a:solidFill>
              </a:rPr>
              <a:t> ticket </a:t>
            </a:r>
            <a:r>
              <a:rPr lang="de-DE" sz="1600" dirty="0" err="1">
                <a:solidFill>
                  <a:srgbClr val="94A3B8"/>
                </a:solidFill>
              </a:rPr>
              <a:t>load</a:t>
            </a:r>
            <a:r>
              <a:rPr lang="de-DE" sz="1600" dirty="0">
                <a:solidFill>
                  <a:srgbClr val="94A3B8"/>
                </a:solidFill>
              </a:rPr>
              <a:t> and </a:t>
            </a:r>
            <a:r>
              <a:rPr lang="de-DE" sz="1600" dirty="0" err="1">
                <a:solidFill>
                  <a:srgbClr val="94A3B8"/>
                </a:solidFill>
              </a:rPr>
              <a:t>workforce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status</a:t>
            </a: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>
                <a:solidFill>
                  <a:srgbClr val="94A3B8"/>
                </a:solidFill>
              </a:rPr>
              <a:t>Tickets			Live ticket </a:t>
            </a:r>
            <a:r>
              <a:rPr lang="de-DE" sz="1600" dirty="0" err="1">
                <a:solidFill>
                  <a:srgbClr val="94A3B8"/>
                </a:solidFill>
              </a:rPr>
              <a:t>monitoring</a:t>
            </a:r>
            <a:r>
              <a:rPr lang="de-DE" sz="1600" dirty="0">
                <a:solidFill>
                  <a:srgbClr val="94A3B8"/>
                </a:solidFill>
              </a:rPr>
              <a:t> (</a:t>
            </a:r>
            <a:r>
              <a:rPr lang="de-DE" sz="1600" dirty="0" err="1">
                <a:solidFill>
                  <a:srgbClr val="94A3B8"/>
                </a:solidFill>
              </a:rPr>
              <a:t>status</a:t>
            </a:r>
            <a:r>
              <a:rPr lang="de-DE" sz="1600" dirty="0">
                <a:solidFill>
                  <a:srgbClr val="94A3B8"/>
                </a:solidFill>
              </a:rPr>
              <a:t>/</a:t>
            </a:r>
            <a:r>
              <a:rPr lang="de-DE" sz="1600" dirty="0" err="1">
                <a:solidFill>
                  <a:srgbClr val="94A3B8"/>
                </a:solidFill>
              </a:rPr>
              <a:t>priority</a:t>
            </a:r>
            <a:r>
              <a:rPr lang="de-DE" sz="1600" dirty="0">
                <a:solidFill>
                  <a:srgbClr val="94A3B8"/>
                </a:solidFill>
              </a:rPr>
              <a:t>) and </a:t>
            </a:r>
            <a:r>
              <a:rPr lang="de-DE" sz="1600" dirty="0" err="1">
                <a:solidFill>
                  <a:srgbClr val="94A3B8"/>
                </a:solidFill>
              </a:rPr>
              <a:t>detailed</a:t>
            </a:r>
            <a:r>
              <a:rPr lang="de-DE" sz="1600" dirty="0">
                <a:solidFill>
                  <a:srgbClr val="94A3B8"/>
                </a:solidFill>
              </a:rPr>
              <a:t> ticket </a:t>
            </a:r>
            <a:r>
              <a:rPr lang="de-DE" sz="1600" dirty="0" err="1">
                <a:solidFill>
                  <a:srgbClr val="94A3B8"/>
                </a:solidFill>
              </a:rPr>
              <a:t>view</a:t>
            </a: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>
                <a:solidFill>
                  <a:srgbClr val="94A3B8"/>
                </a:solidFill>
              </a:rPr>
              <a:t>People			Performance and </a:t>
            </a:r>
            <a:r>
              <a:rPr lang="de-DE" sz="1600" dirty="0" err="1">
                <a:solidFill>
                  <a:srgbClr val="94A3B8"/>
                </a:solidFill>
              </a:rPr>
              <a:t>risk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monitoring</a:t>
            </a:r>
            <a:r>
              <a:rPr lang="de-DE" sz="1600" dirty="0">
                <a:solidFill>
                  <a:srgbClr val="94A3B8"/>
                </a:solidFill>
              </a:rPr>
              <a:t>, </a:t>
            </a:r>
            <a:r>
              <a:rPr lang="de-DE" sz="1600" dirty="0" err="1">
                <a:solidFill>
                  <a:srgbClr val="94A3B8"/>
                </a:solidFill>
              </a:rPr>
              <a:t>trends</a:t>
            </a:r>
            <a:r>
              <a:rPr lang="de-DE" sz="1600" dirty="0">
                <a:solidFill>
                  <a:srgbClr val="94A3B8"/>
                </a:solidFill>
              </a:rPr>
              <a:t>, </a:t>
            </a:r>
            <a:r>
              <a:rPr lang="de-DE" sz="1600" dirty="0" err="1">
                <a:solidFill>
                  <a:srgbClr val="94A3B8"/>
                </a:solidFill>
              </a:rPr>
              <a:t>employee</a:t>
            </a:r>
            <a:r>
              <a:rPr lang="de-DE" sz="1600" dirty="0">
                <a:solidFill>
                  <a:srgbClr val="94A3B8"/>
                </a:solidFill>
              </a:rPr>
              <a:t> drill-down, </a:t>
            </a:r>
            <a:r>
              <a:rPr lang="de-DE" sz="1600" dirty="0" err="1">
                <a:solidFill>
                  <a:srgbClr val="94A3B8"/>
                </a:solidFill>
              </a:rPr>
              <a:t>training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recommendations</a:t>
            </a: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>
                <a:solidFill>
                  <a:srgbClr val="94A3B8"/>
                </a:solidFill>
              </a:rPr>
              <a:t>Performance Scores	Score </a:t>
            </a:r>
            <a:r>
              <a:rPr lang="de-DE" sz="1600" dirty="0" err="1">
                <a:solidFill>
                  <a:srgbClr val="94A3B8"/>
                </a:solidFill>
              </a:rPr>
              <a:t>validity</a:t>
            </a:r>
            <a:r>
              <a:rPr lang="de-DE" sz="1600" dirty="0">
                <a:solidFill>
                  <a:srgbClr val="94A3B8"/>
                </a:solidFill>
              </a:rPr>
              <a:t> (Q </a:t>
            </a:r>
            <a:r>
              <a:rPr lang="de-DE" sz="1600" dirty="0" err="1">
                <a:solidFill>
                  <a:srgbClr val="94A3B8"/>
                </a:solidFill>
              </a:rPr>
              <a:t>vs</a:t>
            </a:r>
            <a:r>
              <a:rPr lang="de-DE" sz="1600" dirty="0">
                <a:solidFill>
                  <a:srgbClr val="94A3B8"/>
                </a:solidFill>
              </a:rPr>
              <a:t> O, </a:t>
            </a:r>
            <a:r>
              <a:rPr lang="de-DE" sz="1600" dirty="0" err="1">
                <a:solidFill>
                  <a:srgbClr val="94A3B8"/>
                </a:solidFill>
              </a:rPr>
              <a:t>bias</a:t>
            </a:r>
            <a:r>
              <a:rPr lang="de-DE" sz="1600" dirty="0">
                <a:solidFill>
                  <a:srgbClr val="94A3B8"/>
                </a:solidFill>
              </a:rPr>
              <a:t>), </a:t>
            </a:r>
            <a:r>
              <a:rPr lang="de-DE" sz="1600" dirty="0" err="1">
                <a:solidFill>
                  <a:srgbClr val="94A3B8"/>
                </a:solidFill>
              </a:rPr>
              <a:t>model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results</a:t>
            </a:r>
            <a:r>
              <a:rPr lang="de-DE" sz="1600" dirty="0">
                <a:solidFill>
                  <a:srgbClr val="94A3B8"/>
                </a:solidFill>
              </a:rPr>
              <a:t>, and </a:t>
            </a:r>
            <a:r>
              <a:rPr lang="de-DE" sz="1600" dirty="0" err="1">
                <a:solidFill>
                  <a:srgbClr val="94A3B8"/>
                </a:solidFill>
              </a:rPr>
              <a:t>forecasting</a:t>
            </a: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 err="1">
                <a:solidFill>
                  <a:srgbClr val="94A3B8"/>
                </a:solidFill>
              </a:rPr>
              <a:t>Operations</a:t>
            </a:r>
            <a:r>
              <a:rPr lang="de-DE" sz="1600" dirty="0">
                <a:solidFill>
                  <a:srgbClr val="94A3B8"/>
                </a:solidFill>
              </a:rPr>
              <a:t> 		Communication </a:t>
            </a:r>
            <a:r>
              <a:rPr lang="de-DE" sz="1600" dirty="0" err="1">
                <a:solidFill>
                  <a:srgbClr val="94A3B8"/>
                </a:solidFill>
              </a:rPr>
              <a:t>quality</a:t>
            </a:r>
            <a:r>
              <a:rPr lang="de-DE" sz="1600" dirty="0">
                <a:solidFill>
                  <a:srgbClr val="94A3B8"/>
                </a:solidFill>
              </a:rPr>
              <a:t> (</a:t>
            </a:r>
            <a:r>
              <a:rPr lang="de-DE" sz="1600" dirty="0" err="1">
                <a:solidFill>
                  <a:srgbClr val="94A3B8"/>
                </a:solidFill>
              </a:rPr>
              <a:t>sentiment</a:t>
            </a:r>
            <a:r>
              <a:rPr lang="de-DE" sz="1600" dirty="0">
                <a:solidFill>
                  <a:srgbClr val="94A3B8"/>
                </a:solidFill>
              </a:rPr>
              <a:t>/</a:t>
            </a:r>
            <a:r>
              <a:rPr lang="de-DE" sz="1600" dirty="0" err="1">
                <a:solidFill>
                  <a:srgbClr val="94A3B8"/>
                </a:solidFill>
              </a:rPr>
              <a:t>dialog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acts</a:t>
            </a:r>
            <a:r>
              <a:rPr lang="de-DE" sz="1600" dirty="0">
                <a:solidFill>
                  <a:srgbClr val="94A3B8"/>
                </a:solidFill>
              </a:rPr>
              <a:t>) and </a:t>
            </a:r>
            <a:r>
              <a:rPr lang="de-DE" sz="1600" dirty="0" err="1">
                <a:solidFill>
                  <a:srgbClr val="94A3B8"/>
                </a:solidFill>
              </a:rPr>
              <a:t>process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compliance</a:t>
            </a: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 err="1">
                <a:solidFill>
                  <a:srgbClr val="94A3B8"/>
                </a:solidFill>
              </a:rPr>
              <a:t>Employee</a:t>
            </a:r>
            <a:r>
              <a:rPr lang="de-DE" sz="1600" dirty="0">
                <a:solidFill>
                  <a:srgbClr val="94A3B8"/>
                </a:solidFill>
              </a:rPr>
              <a:t> Clustering	</a:t>
            </a:r>
            <a:r>
              <a:rPr lang="de-DE" sz="1600" dirty="0" err="1">
                <a:solidFill>
                  <a:srgbClr val="94A3B8"/>
                </a:solidFill>
              </a:rPr>
              <a:t>Unsupervised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performance</a:t>
            </a:r>
            <a:r>
              <a:rPr lang="de-DE" sz="1600" dirty="0">
                <a:solidFill>
                  <a:srgbClr val="94A3B8"/>
                </a:solidFill>
              </a:rPr>
              <a:t> </a:t>
            </a:r>
            <a:r>
              <a:rPr lang="de-DE" sz="1600" dirty="0" err="1">
                <a:solidFill>
                  <a:srgbClr val="94A3B8"/>
                </a:solidFill>
              </a:rPr>
              <a:t>clusters</a:t>
            </a: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>
                <a:solidFill>
                  <a:srgbClr val="94A3B8"/>
                </a:solidFill>
              </a:rPr>
              <a:t>Project Architecture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>
                <a:solidFill>
                  <a:srgbClr val="94A3B8"/>
                </a:solidFill>
              </a:rPr>
              <a:t>I/O </a:t>
            </a:r>
            <a:r>
              <a:rPr lang="de-DE" sz="1600" dirty="0" err="1">
                <a:solidFill>
                  <a:srgbClr val="94A3B8"/>
                </a:solidFill>
              </a:rPr>
              <a:t>Documentation</a:t>
            </a: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de-DE" sz="1600" dirty="0">
              <a:solidFill>
                <a:srgbClr val="94A3B8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>
                <a:solidFill>
                  <a:srgbClr val="94A3B8"/>
                </a:solidFill>
              </a:rPr>
              <a:t>Export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600" dirty="0">
                <a:solidFill>
                  <a:srgbClr val="94A3B8"/>
                </a:solidFill>
              </a:rPr>
              <a:t>Settings</a:t>
            </a:r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167F7FFB-9A6C-C253-092B-6CE27067A055}"/>
              </a:ext>
            </a:extLst>
          </p:cNvPr>
          <p:cNvSpPr/>
          <p:nvPr/>
        </p:nvSpPr>
        <p:spPr>
          <a:xfrm flipH="1" flipV="1">
            <a:off x="3232773" y="1666365"/>
            <a:ext cx="1081" cy="4312587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534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Macintosh PowerPoint</Application>
  <PresentationFormat>Breitbild</PresentationFormat>
  <Paragraphs>130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Symbol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Pfeifer, Marina</cp:lastModifiedBy>
  <cp:revision>8</cp:revision>
  <dcterms:created xsi:type="dcterms:W3CDTF">2026-02-20T14:47:57Z</dcterms:created>
  <dcterms:modified xsi:type="dcterms:W3CDTF">2026-02-20T16:26:56Z</dcterms:modified>
</cp:coreProperties>
</file>