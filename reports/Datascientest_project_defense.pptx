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68" r:id="rId5"/>
    <p:sldId id="269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1C23"/>
    <a:srgbClr val="7F87C4"/>
    <a:srgbClr val="45496A"/>
    <a:srgbClr val="0F1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30"/>
    <p:restoredTop sz="96983"/>
  </p:normalViewPr>
  <p:slideViewPr>
    <p:cSldViewPr snapToGrid="0">
      <p:cViewPr varScale="1">
        <p:scale>
          <a:sx n="153" d="100"/>
          <a:sy n="153" d="100"/>
        </p:scale>
        <p:origin x="5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3EB90E-2A5A-018E-A25B-B72FEAD2C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60B4E47-574E-9928-C504-73E0B7E30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703F02-40A7-434A-18E5-2ADAF619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5AEEE6-DC55-484C-9DAB-E031E5834DF8}" type="datetimeFigureOut">
              <a:rPr lang="de-DE" smtClean="0"/>
              <a:pPr/>
              <a:t>18.02.26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45934B-2007-7849-F382-BFB6AFD98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>
              <a:solidFill>
                <a:schemeClr val="bg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8F797F-3D56-13FC-0A75-14BA6F14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D74EA5-89B8-4D45-AA6E-C0D5BF66C92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8598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72EE8D-5CEE-6307-DD1D-44F09D909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5CC0FA-7373-1305-20EB-F4948D8CF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C8E52A-74ED-E9D6-CCC2-C20743C37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5AEEE6-DC55-484C-9DAB-E031E5834DF8}" type="datetimeFigureOut">
              <a:rPr lang="de-DE" smtClean="0"/>
              <a:pPr/>
              <a:t>18.02.26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C0A285-B62A-4470-4F50-C2A617E69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>
              <a:solidFill>
                <a:schemeClr val="bg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7F01DA-4B1D-5D3C-FB63-9BED1AC5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D74EA5-89B8-4D45-AA6E-C0D5BF66C92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883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59B7C2-FAD7-143D-5EE8-FD1F7D10A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C46F07-9615-6DFD-AFD6-729816016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F50242-1E3A-232F-31CC-498C119F1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EE6-DC55-484C-9DAB-E031E5834DF8}" type="datetimeFigureOut">
              <a:rPr lang="de-DE" smtClean="0"/>
              <a:t>18.02.26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582742-BF93-A2C3-DACB-7D492908D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8EAAED-28C5-EAAF-6238-2000AB5B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74EA5-89B8-4D45-AA6E-C0D5BF66C9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1240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9F7EFC-22C0-FCED-94AA-E04C6B351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F0CD20-CC21-6C72-0DF3-9F7BA8EF1D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765954-2102-FA37-2209-82C708D0F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2B3D70-05A5-0C19-C79B-7B31BE993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EE6-DC55-484C-9DAB-E031E5834DF8}" type="datetimeFigureOut">
              <a:rPr lang="de-DE" smtClean="0"/>
              <a:t>18.02.26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F35337-7E99-D9F1-6B19-D37387D77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C537D51-A6C6-4202-8888-91E08B0B2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74EA5-89B8-4D45-AA6E-C0D5BF66C9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5396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478E49-71DD-6FDF-CE54-F5BDEBBAA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F65280-F08A-350C-73A2-848D448BF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A15F91D-6E89-F990-9CC9-1CA752598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BB4823C-FD29-ABFF-4876-F5DFC0E40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989E568-5371-5373-168F-92C3CA4FA7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18F701D-EF93-2020-2B96-D9F4FDC74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5AEEE6-DC55-484C-9DAB-E031E5834DF8}" type="datetimeFigureOut">
              <a:rPr lang="de-DE" smtClean="0"/>
              <a:pPr/>
              <a:t>18.02.26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E8ACD31-718F-3FD9-8745-0A85D2C9F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>
              <a:solidFill>
                <a:schemeClr val="bg1"/>
              </a:solidFill>
            </a:endParaRP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1AD997C-3704-2636-E9CC-53E1FF232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D74EA5-89B8-4D45-AA6E-C0D5BF66C92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78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21BBCE-0F7D-9943-C1DD-4F27A2D6C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007D833-8FDD-063A-8E5E-7FB0E56F8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EE6-DC55-484C-9DAB-E031E5834DF8}" type="datetimeFigureOut">
              <a:rPr lang="de-DE" smtClean="0"/>
              <a:t>18.02.26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A469EB9-5E54-C340-B9A5-467057C72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A71190-2531-6362-F680-03AF64F4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74EA5-89B8-4D45-AA6E-C0D5BF66C9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285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F5785BB-9851-1949-EA6E-892D28C85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EE6-DC55-484C-9DAB-E031E5834DF8}" type="datetimeFigureOut">
              <a:rPr lang="de-DE" smtClean="0"/>
              <a:t>18.02.26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672B635-1ABC-E470-1A1B-29B9DC048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6E4A49-7313-E2DF-B853-027EF00F3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74EA5-89B8-4D45-AA6E-C0D5BF66C9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1733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2DEB4A-5396-3EFC-5588-BF33043AE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B17ED9-A631-7CCC-22AF-E59E1D8A5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8812BD3-6B82-F916-54E0-D7033A8C7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D0733F-0164-E125-CD0A-46AECF631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EE6-DC55-484C-9DAB-E031E5834DF8}" type="datetimeFigureOut">
              <a:rPr lang="de-DE" smtClean="0"/>
              <a:t>18.02.26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D5E577-8C50-F1B7-DD05-935C0D21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C360225-6179-6ACB-BD26-802B42FA9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74EA5-89B8-4D45-AA6E-C0D5BF66C9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911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A51E4C-516C-7456-A3CE-BA8DCBF88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86C59D1-ABE2-C81F-76A4-C2F865980A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8F226E-95D8-0055-0C45-8DB3A3054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EA6D6EF-08D2-485E-6DFE-1C09CCF45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EE6-DC55-484C-9DAB-E031E5834DF8}" type="datetimeFigureOut">
              <a:rPr lang="de-DE" smtClean="0"/>
              <a:t>18.02.26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2DDA93-3230-FCB4-58D9-F47902E5D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7F9D56F-A1EE-C838-D549-33E17967B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74EA5-89B8-4D45-AA6E-C0D5BF66C9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9661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ACAF22-CBAD-BF69-1590-3B83ADEEE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C5EA2E2-3C05-DF3C-A43B-8EE87597D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07F5DC-A55F-4210-C0BD-D9A1F9F7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EE6-DC55-484C-9DAB-E031E5834DF8}" type="datetimeFigureOut">
              <a:rPr lang="de-DE" smtClean="0"/>
              <a:t>18.02.26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F9C404-70D3-D73B-764E-0E294AE59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67A6D1-9190-7F95-7C77-53497FB7B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74EA5-89B8-4D45-AA6E-C0D5BF66C9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3350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4C756CB-3148-C94A-C79D-2B0ECE8686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E77197-0927-49A1-85E5-3EF5EF3C0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17924A-05BD-4657-0B02-24DBB472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EE6-DC55-484C-9DAB-E031E5834DF8}" type="datetimeFigureOut">
              <a:rPr lang="de-DE" smtClean="0"/>
              <a:t>18.02.26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1C2734-5DB5-D1CA-01C2-F1865124B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D31103-F6E4-5390-33CA-C362B9179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74EA5-89B8-4D45-AA6E-C0D5BF66C9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9323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06F28B9-DB6D-09AB-41D2-7FE52E7D6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D9ED57-90B6-4561-0763-E51DF279F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BDE866-8713-C569-241D-0703B010C4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5AEEE6-DC55-484C-9DAB-E031E5834DF8}" type="datetimeFigureOut">
              <a:rPr lang="de-DE" smtClean="0"/>
              <a:t>18.02.26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DE331D-B2FA-074C-0B1A-B56A24D07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80238A-0047-357E-E216-7221001CC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D74EA5-89B8-4D45-AA6E-C0D5BF66C9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152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0E74C6-C74A-6F1B-D632-12E81BE68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2620" y="1041400"/>
            <a:ext cx="9406759" cy="2387600"/>
          </a:xfrm>
        </p:spPr>
        <p:txBody>
          <a:bodyPr/>
          <a:lstStyle/>
          <a:p>
            <a:r>
              <a:rPr lang="de-DE" dirty="0"/>
              <a:t>Help Desk </a:t>
            </a:r>
            <a:r>
              <a:rPr lang="de-DE" dirty="0" err="1"/>
              <a:t>Operations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8DA3D90-9210-578E-9247-2C9BD28D4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8914"/>
            <a:ext cx="9144000" cy="1238886"/>
          </a:xfrm>
        </p:spPr>
        <p:txBody>
          <a:bodyPr>
            <a:normAutofit/>
          </a:bodyPr>
          <a:lstStyle/>
          <a:p>
            <a:r>
              <a:rPr lang="de-DE" dirty="0" err="1"/>
              <a:t>Employee</a:t>
            </a:r>
            <a:r>
              <a:rPr lang="de-DE" dirty="0"/>
              <a:t> Performance Analytics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Real World Data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7E2123F-4067-DC75-7A52-85C31DF9F2C3}"/>
              </a:ext>
            </a:extLst>
          </p:cNvPr>
          <p:cNvSpPr/>
          <p:nvPr/>
        </p:nvSpPr>
        <p:spPr>
          <a:xfrm>
            <a:off x="155999" y="3736547"/>
            <a:ext cx="11880000" cy="1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4927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49C97-E116-92C6-1387-C0BB23E70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1FD6C0-5602-6674-0FF8-6E079BBCF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863" y="4826977"/>
            <a:ext cx="9672269" cy="165295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de-DE" sz="2000" b="1" u="sng" dirty="0"/>
              <a:t>Approach: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de-DE" sz="2000" dirty="0" err="1"/>
              <a:t>Using</a:t>
            </a:r>
            <a:r>
              <a:rPr lang="de-DE" sz="2000" dirty="0"/>
              <a:t> </a:t>
            </a:r>
            <a:r>
              <a:rPr lang="de-DE" sz="2000" dirty="0" err="1"/>
              <a:t>process</a:t>
            </a:r>
            <a:r>
              <a:rPr lang="de-DE" sz="2000" dirty="0"/>
              <a:t> and internal </a:t>
            </a:r>
            <a:r>
              <a:rPr lang="de-DE" sz="2000" dirty="0" err="1"/>
              <a:t>communication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quantify</a:t>
            </a:r>
            <a:r>
              <a:rPr lang="de-DE" sz="2000" dirty="0"/>
              <a:t> turn-level </a:t>
            </a:r>
            <a:r>
              <a:rPr lang="de-DE" sz="2000" dirty="0" err="1"/>
              <a:t>performance</a:t>
            </a:r>
            <a:r>
              <a:rPr lang="de-DE" sz="2000" dirty="0"/>
              <a:t> and SLA </a:t>
            </a:r>
            <a:r>
              <a:rPr lang="de-DE" sz="2000" dirty="0" err="1"/>
              <a:t>risk</a:t>
            </a:r>
            <a:r>
              <a:rPr lang="de-DE" sz="2000" dirty="0"/>
              <a:t>, </a:t>
            </a:r>
            <a:r>
              <a:rPr lang="de-DE" sz="2000" dirty="0" err="1"/>
              <a:t>thereby</a:t>
            </a:r>
            <a:r>
              <a:rPr lang="de-DE" sz="2000" dirty="0"/>
              <a:t> </a:t>
            </a:r>
            <a:r>
              <a:rPr lang="de-DE" sz="2000" dirty="0" err="1"/>
              <a:t>evaluating</a:t>
            </a:r>
            <a:r>
              <a:rPr lang="de-DE" sz="2000" dirty="0"/>
              <a:t> </a:t>
            </a:r>
            <a:r>
              <a:rPr lang="de-DE" sz="2000" dirty="0" err="1"/>
              <a:t>manager</a:t>
            </a:r>
            <a:r>
              <a:rPr lang="de-DE" sz="2000" dirty="0"/>
              <a:t> </a:t>
            </a:r>
            <a:r>
              <a:rPr lang="de-DE" sz="2000" dirty="0" err="1"/>
              <a:t>ratings</a:t>
            </a:r>
            <a:r>
              <a:rPr lang="de-DE" sz="2000" dirty="0"/>
              <a:t> (Q-Scores) </a:t>
            </a:r>
            <a:r>
              <a:rPr lang="de-DE" sz="2000" dirty="0" err="1"/>
              <a:t>with</a:t>
            </a:r>
            <a:r>
              <a:rPr lang="de-DE" sz="2000" dirty="0"/>
              <a:t> operational and </a:t>
            </a:r>
            <a:r>
              <a:rPr lang="de-DE" sz="2000" dirty="0" err="1"/>
              <a:t>more</a:t>
            </a:r>
            <a:r>
              <a:rPr lang="de-DE" sz="2000" dirty="0"/>
              <a:t> </a:t>
            </a:r>
            <a:r>
              <a:rPr lang="de-DE" sz="2000" dirty="0" err="1"/>
              <a:t>objective</a:t>
            </a:r>
            <a:r>
              <a:rPr lang="de-DE" sz="2000" dirty="0"/>
              <a:t> </a:t>
            </a:r>
            <a:r>
              <a:rPr lang="de-DE" sz="2000" dirty="0" err="1"/>
              <a:t>proxies</a:t>
            </a:r>
            <a:r>
              <a:rPr lang="de-DE" sz="2000" dirty="0"/>
              <a:t> (O-Scores).</a:t>
            </a:r>
          </a:p>
        </p:txBody>
      </p:sp>
      <p:pic>
        <p:nvPicPr>
          <p:cNvPr id="13" name="Grafik 12" descr="Ein Bild, das Text, Software, Multimedia-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474EDC34-EB0B-7F25-F2EA-959311B73C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37" t="43511" r="39581" b="39015"/>
          <a:stretch>
            <a:fillRect/>
          </a:stretch>
        </p:blipFill>
        <p:spPr>
          <a:xfrm>
            <a:off x="2708729" y="2493979"/>
            <a:ext cx="6774536" cy="2028303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C368A3AF-366E-A932-C86D-088624D4EF0A}"/>
              </a:ext>
            </a:extLst>
          </p:cNvPr>
          <p:cNvSpPr txBox="1"/>
          <p:nvPr/>
        </p:nvSpPr>
        <p:spPr>
          <a:xfrm>
            <a:off x="1259863" y="1062986"/>
            <a:ext cx="9672269" cy="1548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de-DE" sz="2000" dirty="0">
                <a:solidFill>
                  <a:schemeClr val="bg1"/>
                </a:solidFill>
              </a:rPr>
              <a:t>A </a:t>
            </a:r>
            <a:r>
              <a:rPr lang="de-DE" sz="2000" dirty="0" err="1">
                <a:solidFill>
                  <a:schemeClr val="bg1"/>
                </a:solidFill>
              </a:rPr>
              <a:t>help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desk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is</a:t>
            </a:r>
            <a:r>
              <a:rPr lang="de-DE" sz="2000" dirty="0">
                <a:solidFill>
                  <a:schemeClr val="bg1"/>
                </a:solidFill>
              </a:rPr>
              <a:t> a </a:t>
            </a:r>
            <a:r>
              <a:rPr lang="de-DE" sz="2000" dirty="0" err="1">
                <a:solidFill>
                  <a:schemeClr val="bg1"/>
                </a:solidFill>
              </a:rPr>
              <a:t>structured</a:t>
            </a:r>
            <a:r>
              <a:rPr lang="de-DE" sz="2000" dirty="0">
                <a:solidFill>
                  <a:schemeClr val="bg1"/>
                </a:solidFill>
              </a:rPr>
              <a:t> support </a:t>
            </a:r>
            <a:r>
              <a:rPr lang="de-DE" sz="2000" dirty="0" err="1">
                <a:solidFill>
                  <a:schemeClr val="bg1"/>
                </a:solidFill>
              </a:rPr>
              <a:t>function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where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tickets</a:t>
            </a:r>
            <a:r>
              <a:rPr lang="de-DE" sz="2000" dirty="0">
                <a:solidFill>
                  <a:schemeClr val="bg1"/>
                </a:solidFill>
              </a:rPr>
              <a:t> (</a:t>
            </a:r>
            <a:r>
              <a:rPr lang="de-DE" sz="2000" dirty="0" err="1">
                <a:solidFill>
                  <a:schemeClr val="bg1"/>
                </a:solidFill>
              </a:rPr>
              <a:t>or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issues</a:t>
            </a:r>
            <a:r>
              <a:rPr lang="de-DE" sz="2000" dirty="0">
                <a:solidFill>
                  <a:schemeClr val="bg1"/>
                </a:solidFill>
              </a:rPr>
              <a:t>) </a:t>
            </a:r>
            <a:r>
              <a:rPr lang="de-DE" sz="2000" dirty="0" err="1">
                <a:solidFill>
                  <a:schemeClr val="bg1"/>
                </a:solidFill>
              </a:rPr>
              <a:t>are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created</a:t>
            </a:r>
            <a:r>
              <a:rPr lang="de-DE" sz="2000" dirty="0">
                <a:solidFill>
                  <a:schemeClr val="bg1"/>
                </a:solidFill>
              </a:rPr>
              <a:t>, </a:t>
            </a:r>
            <a:r>
              <a:rPr lang="de-DE" sz="2000" dirty="0" err="1">
                <a:solidFill>
                  <a:schemeClr val="bg1"/>
                </a:solidFill>
              </a:rPr>
              <a:t>triaged</a:t>
            </a:r>
            <a:r>
              <a:rPr lang="de-DE" sz="2000" dirty="0">
                <a:solidFill>
                  <a:schemeClr val="bg1"/>
                </a:solidFill>
              </a:rPr>
              <a:t>, </a:t>
            </a:r>
            <a:r>
              <a:rPr lang="de-DE" sz="2000" dirty="0" err="1">
                <a:solidFill>
                  <a:schemeClr val="bg1"/>
                </a:solidFill>
              </a:rPr>
              <a:t>worked</a:t>
            </a:r>
            <a:r>
              <a:rPr lang="de-DE" sz="2000" dirty="0">
                <a:solidFill>
                  <a:schemeClr val="bg1"/>
                </a:solidFill>
              </a:rPr>
              <a:t> on </a:t>
            </a:r>
            <a:r>
              <a:rPr lang="de-DE" sz="2000" dirty="0" err="1">
                <a:solidFill>
                  <a:schemeClr val="bg1"/>
                </a:solidFill>
              </a:rPr>
              <a:t>by</a:t>
            </a:r>
            <a:r>
              <a:rPr lang="de-DE" sz="2000" dirty="0">
                <a:solidFill>
                  <a:schemeClr val="bg1"/>
                </a:solidFill>
              </a:rPr>
              <a:t> support </a:t>
            </a:r>
            <a:r>
              <a:rPr lang="de-DE" sz="2000" dirty="0" err="1">
                <a:solidFill>
                  <a:schemeClr val="bg1"/>
                </a:solidFill>
              </a:rPr>
              <a:t>employees</a:t>
            </a:r>
            <a:r>
              <a:rPr lang="de-DE" sz="2000" dirty="0">
                <a:solidFill>
                  <a:schemeClr val="bg1"/>
                </a:solidFill>
              </a:rPr>
              <a:t>, and </a:t>
            </a:r>
            <a:r>
              <a:rPr lang="de-DE" sz="2000" dirty="0" err="1">
                <a:solidFill>
                  <a:schemeClr val="bg1"/>
                </a:solidFill>
              </a:rPr>
              <a:t>eventually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closed</a:t>
            </a:r>
            <a:r>
              <a:rPr lang="de-DE" sz="2000" dirty="0">
                <a:solidFill>
                  <a:schemeClr val="bg1"/>
                </a:solidFill>
              </a:rPr>
              <a:t>. Tickets </a:t>
            </a:r>
            <a:r>
              <a:rPr lang="de-DE" sz="2000" dirty="0" err="1">
                <a:solidFill>
                  <a:schemeClr val="bg1"/>
                </a:solidFill>
              </a:rPr>
              <a:t>move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through</a:t>
            </a:r>
            <a:r>
              <a:rPr lang="de-DE" sz="2000" dirty="0">
                <a:solidFill>
                  <a:schemeClr val="bg1"/>
                </a:solidFill>
              </a:rPr>
              <a:t> a </a:t>
            </a:r>
            <a:r>
              <a:rPr lang="de-DE" sz="2000" dirty="0" err="1">
                <a:solidFill>
                  <a:schemeClr val="bg1"/>
                </a:solidFill>
              </a:rPr>
              <a:t>workflow</a:t>
            </a:r>
            <a:r>
              <a:rPr lang="de-DE" sz="2000" dirty="0">
                <a:solidFill>
                  <a:schemeClr val="bg1"/>
                </a:solidFill>
              </a:rPr>
              <a:t> and </a:t>
            </a:r>
            <a:r>
              <a:rPr lang="de-DE" sz="2000" dirty="0" err="1">
                <a:solidFill>
                  <a:schemeClr val="bg1"/>
                </a:solidFill>
              </a:rPr>
              <a:t>can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be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handed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over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between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employees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if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needed</a:t>
            </a:r>
            <a:r>
              <a:rPr lang="de-DE" sz="2000" dirty="0">
                <a:solidFill>
                  <a:schemeClr val="bg1"/>
                </a:solidFill>
              </a:rPr>
              <a:t> (so-</a:t>
            </a:r>
            <a:r>
              <a:rPr lang="de-DE" sz="2000" dirty="0" err="1">
                <a:solidFill>
                  <a:schemeClr val="bg1"/>
                </a:solidFill>
              </a:rPr>
              <a:t>called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turns</a:t>
            </a:r>
            <a:r>
              <a:rPr lang="de-DE" sz="2000" dirty="0">
                <a:solidFill>
                  <a:schemeClr val="bg1"/>
                </a:solidFill>
              </a:rPr>
              <a:t>).</a:t>
            </a:r>
            <a:br>
              <a:rPr lang="de-DE" sz="2000" dirty="0">
                <a:solidFill>
                  <a:schemeClr val="bg1"/>
                </a:solidFill>
              </a:rPr>
            </a:br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921BBB98-DFE6-0E7A-CEEA-F6D875F38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67153"/>
          </a:xfrm>
        </p:spPr>
        <p:txBody>
          <a:bodyPr/>
          <a:lstStyle/>
          <a:p>
            <a:pPr algn="ctr"/>
            <a:r>
              <a:rPr lang="de-DE" dirty="0"/>
              <a:t>CONTEXT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D9DB719-D362-1AD4-9C09-5464E7A05920}"/>
              </a:ext>
            </a:extLst>
          </p:cNvPr>
          <p:cNvSpPr/>
          <p:nvPr/>
        </p:nvSpPr>
        <p:spPr>
          <a:xfrm>
            <a:off x="155997" y="879047"/>
            <a:ext cx="11880000" cy="1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2943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1A36254B-B302-B549-57BA-A98463C3C080}"/>
              </a:ext>
            </a:extLst>
          </p:cNvPr>
          <p:cNvSpPr/>
          <p:nvPr/>
        </p:nvSpPr>
        <p:spPr>
          <a:xfrm>
            <a:off x="1063866" y="1178237"/>
            <a:ext cx="10064261" cy="1933523"/>
          </a:xfrm>
          <a:prstGeom prst="rect">
            <a:avLst/>
          </a:prstGeom>
          <a:solidFill>
            <a:srgbClr val="191C2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A07712DE-DF6A-5B70-E266-BDE20EFF5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67153"/>
          </a:xfrm>
        </p:spPr>
        <p:txBody>
          <a:bodyPr/>
          <a:lstStyle/>
          <a:p>
            <a:pPr algn="ctr"/>
            <a:r>
              <a:rPr lang="de-DE" dirty="0"/>
              <a:t>RELEVANCE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322D28C-A92D-6E6F-54F0-92E2C615512A}"/>
              </a:ext>
            </a:extLst>
          </p:cNvPr>
          <p:cNvSpPr/>
          <p:nvPr/>
        </p:nvSpPr>
        <p:spPr>
          <a:xfrm>
            <a:off x="155997" y="879047"/>
            <a:ext cx="11880000" cy="1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F9982364-B962-1DB3-1F94-D080D2DF99CD}"/>
              </a:ext>
            </a:extLst>
          </p:cNvPr>
          <p:cNvSpPr/>
          <p:nvPr/>
        </p:nvSpPr>
        <p:spPr>
          <a:xfrm>
            <a:off x="1063866" y="3271220"/>
            <a:ext cx="10064261" cy="1547705"/>
          </a:xfrm>
          <a:prstGeom prst="rect">
            <a:avLst/>
          </a:prstGeom>
          <a:solidFill>
            <a:srgbClr val="191C2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134C7F35-F194-7A28-1717-5F02E9F67874}"/>
              </a:ext>
            </a:extLst>
          </p:cNvPr>
          <p:cNvSpPr/>
          <p:nvPr/>
        </p:nvSpPr>
        <p:spPr>
          <a:xfrm>
            <a:off x="1063866" y="4993115"/>
            <a:ext cx="10064261" cy="1547705"/>
          </a:xfrm>
          <a:prstGeom prst="rect">
            <a:avLst/>
          </a:prstGeom>
          <a:solidFill>
            <a:srgbClr val="191C2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876D42F-3F64-B92C-0C2C-DEBCDA334B67}"/>
              </a:ext>
            </a:extLst>
          </p:cNvPr>
          <p:cNvSpPr txBox="1"/>
          <p:nvPr/>
        </p:nvSpPr>
        <p:spPr>
          <a:xfrm>
            <a:off x="1646726" y="1277420"/>
            <a:ext cx="9093444" cy="1735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de-DE" b="1" u="sng" dirty="0">
                <a:solidFill>
                  <a:schemeClr val="bg1"/>
                </a:solidFill>
              </a:rPr>
              <a:t>Reality: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Ticket </a:t>
            </a:r>
            <a:r>
              <a:rPr lang="de-DE" dirty="0" err="1">
                <a:solidFill>
                  <a:schemeClr val="bg1"/>
                </a:solidFill>
              </a:rPr>
              <a:t>queues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fluctuate</a:t>
            </a:r>
            <a:r>
              <a:rPr lang="de-DE" dirty="0">
                <a:solidFill>
                  <a:schemeClr val="bg1"/>
                </a:solidFill>
              </a:rPr>
              <a:t> (</a:t>
            </a:r>
            <a:r>
              <a:rPr lang="de-DE" dirty="0" err="1">
                <a:solidFill>
                  <a:schemeClr val="bg1"/>
                </a:solidFill>
              </a:rPr>
              <a:t>peaks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outages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recurring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incidents</a:t>
            </a:r>
            <a:r>
              <a:rPr lang="de-DE" dirty="0">
                <a:solidFill>
                  <a:schemeClr val="bg1"/>
                </a:solidFill>
              </a:rPr>
              <a:t>).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A </a:t>
            </a:r>
            <a:r>
              <a:rPr lang="de-DE" dirty="0" err="1">
                <a:solidFill>
                  <a:schemeClr val="bg1"/>
                </a:solidFill>
              </a:rPr>
              <a:t>single</a:t>
            </a:r>
            <a:r>
              <a:rPr lang="de-DE" dirty="0">
                <a:solidFill>
                  <a:schemeClr val="bg1"/>
                </a:solidFill>
              </a:rPr>
              <a:t> ticket </a:t>
            </a:r>
            <a:r>
              <a:rPr lang="de-DE" dirty="0" err="1">
                <a:solidFill>
                  <a:schemeClr val="bg1"/>
                </a:solidFill>
              </a:rPr>
              <a:t>can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require</a:t>
            </a:r>
            <a:r>
              <a:rPr lang="de-DE" dirty="0">
                <a:solidFill>
                  <a:schemeClr val="bg1"/>
                </a:solidFill>
              </a:rPr>
              <a:t> multiple </a:t>
            </a:r>
            <a:r>
              <a:rPr lang="de-DE" dirty="0" err="1">
                <a:solidFill>
                  <a:schemeClr val="bg1"/>
                </a:solidFill>
              </a:rPr>
              <a:t>interactions</a:t>
            </a:r>
            <a:r>
              <a:rPr lang="de-DE" dirty="0">
                <a:solidFill>
                  <a:schemeClr val="bg1"/>
                </a:solidFill>
              </a:rPr>
              <a:t> and multiple </a:t>
            </a:r>
            <a:r>
              <a:rPr lang="de-DE" dirty="0" err="1">
                <a:solidFill>
                  <a:schemeClr val="bg1"/>
                </a:solidFill>
              </a:rPr>
              <a:t>assignees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Customer </a:t>
            </a:r>
            <a:r>
              <a:rPr lang="de-DE" dirty="0" err="1">
                <a:solidFill>
                  <a:schemeClr val="bg1"/>
                </a:solidFill>
              </a:rPr>
              <a:t>experience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depends</a:t>
            </a:r>
            <a:r>
              <a:rPr lang="de-DE" dirty="0">
                <a:solidFill>
                  <a:schemeClr val="bg1"/>
                </a:solidFill>
              </a:rPr>
              <a:t> on </a:t>
            </a:r>
            <a:r>
              <a:rPr lang="de-DE" dirty="0" err="1">
                <a:solidFill>
                  <a:schemeClr val="bg1"/>
                </a:solidFill>
              </a:rPr>
              <a:t>speed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clarity</a:t>
            </a:r>
            <a:r>
              <a:rPr lang="de-DE" dirty="0">
                <a:solidFill>
                  <a:schemeClr val="bg1"/>
                </a:solidFill>
              </a:rPr>
              <a:t>, and </a:t>
            </a:r>
            <a:r>
              <a:rPr lang="de-DE" dirty="0" err="1">
                <a:solidFill>
                  <a:schemeClr val="bg1"/>
                </a:solidFill>
              </a:rPr>
              <a:t>correctness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lnSpc>
                <a:spcPct val="120000"/>
              </a:lnSpc>
              <a:buFont typeface="Wingdings" pitchFamily="2" charset="2"/>
              <a:buChar char="à"/>
            </a:pPr>
            <a:r>
              <a:rPr lang="de-DE" dirty="0">
                <a:solidFill>
                  <a:schemeClr val="bg1"/>
                </a:solidFill>
              </a:rPr>
              <a:t>Help </a:t>
            </a:r>
            <a:r>
              <a:rPr lang="de-DE" dirty="0" err="1">
                <a:solidFill>
                  <a:schemeClr val="bg1"/>
                </a:solidFill>
              </a:rPr>
              <a:t>desks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measured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by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efficiency</a:t>
            </a:r>
            <a:r>
              <a:rPr lang="de-DE" dirty="0">
                <a:solidFill>
                  <a:schemeClr val="bg1"/>
                </a:solidFill>
              </a:rPr>
              <a:t> (time/</a:t>
            </a:r>
            <a:r>
              <a:rPr lang="de-DE" dirty="0" err="1">
                <a:solidFill>
                  <a:schemeClr val="bg1"/>
                </a:solidFill>
              </a:rPr>
              <a:t>cost</a:t>
            </a:r>
            <a:r>
              <a:rPr lang="de-DE" dirty="0">
                <a:solidFill>
                  <a:schemeClr val="bg1"/>
                </a:solidFill>
              </a:rPr>
              <a:t>) and </a:t>
            </a:r>
            <a:r>
              <a:rPr lang="de-DE" dirty="0" err="1">
                <a:solidFill>
                  <a:schemeClr val="bg1"/>
                </a:solidFill>
              </a:rPr>
              <a:t>service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quality</a:t>
            </a:r>
            <a:r>
              <a:rPr lang="de-DE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4AD237E-DD22-1CA5-4349-C29A0ED87450}"/>
              </a:ext>
            </a:extLst>
          </p:cNvPr>
          <p:cNvSpPr txBox="1"/>
          <p:nvPr/>
        </p:nvSpPr>
        <p:spPr>
          <a:xfrm>
            <a:off x="1646726" y="3343694"/>
            <a:ext cx="9093445" cy="14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de-DE" b="1" u="sng" dirty="0">
                <a:solidFill>
                  <a:schemeClr val="bg1"/>
                </a:solidFill>
              </a:rPr>
              <a:t>Goal: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bg1"/>
                </a:solidFill>
              </a:rPr>
              <a:t>Evaluate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performance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using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employee</a:t>
            </a:r>
            <a:r>
              <a:rPr lang="de-DE" dirty="0">
                <a:solidFill>
                  <a:schemeClr val="bg1"/>
                </a:solidFill>
              </a:rPr>
              <a:t>/turn </a:t>
            </a:r>
            <a:r>
              <a:rPr lang="de-DE" dirty="0" err="1">
                <a:solidFill>
                  <a:schemeClr val="bg1"/>
                </a:solidFill>
              </a:rPr>
              <a:t>using</a:t>
            </a:r>
            <a:r>
              <a:rPr lang="de-DE" dirty="0">
                <a:solidFill>
                  <a:schemeClr val="bg1"/>
                </a:solidFill>
              </a:rPr>
              <a:t> ticket </a:t>
            </a:r>
            <a:r>
              <a:rPr lang="de-DE" dirty="0" err="1">
                <a:solidFill>
                  <a:schemeClr val="bg1"/>
                </a:solidFill>
              </a:rPr>
              <a:t>process</a:t>
            </a:r>
            <a:r>
              <a:rPr lang="de-DE" dirty="0">
                <a:solidFill>
                  <a:schemeClr val="bg1"/>
                </a:solidFill>
              </a:rPr>
              <a:t> &amp; </a:t>
            </a:r>
            <a:r>
              <a:rPr lang="de-DE" dirty="0" err="1">
                <a:solidFill>
                  <a:schemeClr val="bg1"/>
                </a:solidFill>
              </a:rPr>
              <a:t>communication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data</a:t>
            </a:r>
            <a:endParaRPr lang="de-DE" dirty="0">
              <a:solidFill>
                <a:schemeClr val="bg1"/>
              </a:solidFill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bg1"/>
                </a:solidFill>
              </a:rPr>
              <a:t>Compare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performance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scores</a:t>
            </a:r>
            <a:r>
              <a:rPr lang="de-DE" dirty="0">
                <a:solidFill>
                  <a:schemeClr val="bg1"/>
                </a:solidFill>
              </a:rPr>
              <a:t> (manager-ratings &amp; operational </a:t>
            </a:r>
            <a:r>
              <a:rPr lang="de-DE" dirty="0" err="1">
                <a:solidFill>
                  <a:schemeClr val="bg1"/>
                </a:solidFill>
              </a:rPr>
              <a:t>scores</a:t>
            </a:r>
            <a:r>
              <a:rPr lang="de-DE" dirty="0">
                <a:solidFill>
                  <a:schemeClr val="bg1"/>
                </a:solidFill>
              </a:rPr>
              <a:t>)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bg1"/>
                </a:solidFill>
              </a:rPr>
              <a:t>Predict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performance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scores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through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key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drivers</a:t>
            </a:r>
            <a:r>
              <a:rPr lang="de-DE" dirty="0">
                <a:solidFill>
                  <a:schemeClr val="bg1"/>
                </a:solidFill>
              </a:rPr>
              <a:t> (</a:t>
            </a:r>
            <a:r>
              <a:rPr lang="de-DE" dirty="0" err="1">
                <a:solidFill>
                  <a:schemeClr val="bg1"/>
                </a:solidFill>
              </a:rPr>
              <a:t>features</a:t>
            </a:r>
            <a:r>
              <a:rPr lang="de-DE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ECC87B24-700C-CE94-875B-FB98EBDD82D9}"/>
              </a:ext>
            </a:extLst>
          </p:cNvPr>
          <p:cNvSpPr txBox="1"/>
          <p:nvPr/>
        </p:nvSpPr>
        <p:spPr>
          <a:xfrm>
            <a:off x="1549274" y="5065589"/>
            <a:ext cx="9093444" cy="14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de-DE" b="1" u="sng" dirty="0">
                <a:solidFill>
                  <a:schemeClr val="bg1"/>
                </a:solidFill>
              </a:rPr>
              <a:t>Business </a:t>
            </a:r>
            <a:r>
              <a:rPr lang="de-DE" b="1" u="sng" dirty="0" err="1">
                <a:solidFill>
                  <a:schemeClr val="bg1"/>
                </a:solidFill>
              </a:rPr>
              <a:t>value</a:t>
            </a:r>
            <a:r>
              <a:rPr lang="de-DE" b="1" u="sng" dirty="0">
                <a:solidFill>
                  <a:schemeClr val="bg1"/>
                </a:solidFill>
              </a:rPr>
              <a:t>: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bg1"/>
                </a:solidFill>
              </a:rPr>
              <a:t>Identify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training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needs</a:t>
            </a:r>
            <a:r>
              <a:rPr lang="de-DE" dirty="0">
                <a:solidFill>
                  <a:schemeClr val="bg1"/>
                </a:solidFill>
              </a:rPr>
              <a:t> and highlight </a:t>
            </a:r>
            <a:r>
              <a:rPr lang="de-DE" dirty="0" err="1">
                <a:solidFill>
                  <a:schemeClr val="bg1"/>
                </a:solidFill>
              </a:rPr>
              <a:t>coaching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targets</a:t>
            </a:r>
            <a:endParaRPr lang="de-DE" dirty="0">
              <a:solidFill>
                <a:schemeClr val="bg1"/>
              </a:solidFill>
            </a:endParaRP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bg1"/>
                </a:solidFill>
              </a:rPr>
              <a:t>Improve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service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consistency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 err="1">
                <a:solidFill>
                  <a:schemeClr val="bg1"/>
                </a:solidFill>
              </a:rPr>
              <a:t>customer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experience</a:t>
            </a:r>
            <a:endParaRPr lang="de-DE" dirty="0">
              <a:solidFill>
                <a:schemeClr val="bg1"/>
              </a:solidFill>
            </a:endParaRP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bg1"/>
                </a:solidFill>
              </a:rPr>
              <a:t>Enable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monitoring</a:t>
            </a:r>
            <a:r>
              <a:rPr lang="de-DE" dirty="0">
                <a:solidFill>
                  <a:schemeClr val="bg1"/>
                </a:solidFill>
              </a:rPr>
              <a:t>/</a:t>
            </a:r>
            <a:r>
              <a:rPr lang="de-DE" dirty="0" err="1">
                <a:solidFill>
                  <a:schemeClr val="bg1"/>
                </a:solidFill>
              </a:rPr>
              <a:t>alerts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 err="1">
                <a:solidFill>
                  <a:schemeClr val="bg1"/>
                </a:solidFill>
              </a:rPr>
              <a:t>process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improvements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110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7165D-8FCD-0B19-CE6B-A1C2A5468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">
            <a:extLst>
              <a:ext uri="{FF2B5EF4-FFF2-40B4-BE49-F238E27FC236}">
                <a16:creationId xmlns:a16="http://schemas.microsoft.com/office/drawing/2014/main" id="{6340E889-855E-50E7-DE74-D85B61B51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67153"/>
          </a:xfrm>
        </p:spPr>
        <p:txBody>
          <a:bodyPr/>
          <a:lstStyle/>
          <a:p>
            <a:pPr algn="ctr"/>
            <a:r>
              <a:rPr lang="de-DE" dirty="0"/>
              <a:t>DATA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AE8958A-FEF2-44B9-F09D-A389057BF827}"/>
              </a:ext>
            </a:extLst>
          </p:cNvPr>
          <p:cNvSpPr/>
          <p:nvPr/>
        </p:nvSpPr>
        <p:spPr>
          <a:xfrm>
            <a:off x="155997" y="879047"/>
            <a:ext cx="11880000" cy="1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D18EE3F-043C-D152-3D37-DB973CE21D26}"/>
              </a:ext>
            </a:extLst>
          </p:cNvPr>
          <p:cNvSpPr/>
          <p:nvPr/>
        </p:nvSpPr>
        <p:spPr>
          <a:xfrm>
            <a:off x="510441" y="2735875"/>
            <a:ext cx="2160000" cy="3636970"/>
          </a:xfrm>
          <a:prstGeom prst="rect">
            <a:avLst/>
          </a:prstGeom>
          <a:solidFill>
            <a:srgbClr val="191C2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B40DD1A-2011-F177-5381-2D25E53B92AF}"/>
              </a:ext>
            </a:extLst>
          </p:cNvPr>
          <p:cNvSpPr/>
          <p:nvPr/>
        </p:nvSpPr>
        <p:spPr>
          <a:xfrm>
            <a:off x="5047261" y="2735875"/>
            <a:ext cx="2160000" cy="3636970"/>
          </a:xfrm>
          <a:prstGeom prst="rect">
            <a:avLst/>
          </a:prstGeom>
          <a:solidFill>
            <a:srgbClr val="191C2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BE04177-9A43-845B-2724-F3914C3F2A11}"/>
              </a:ext>
            </a:extLst>
          </p:cNvPr>
          <p:cNvSpPr/>
          <p:nvPr/>
        </p:nvSpPr>
        <p:spPr>
          <a:xfrm>
            <a:off x="2778854" y="2735875"/>
            <a:ext cx="2160000" cy="3636970"/>
          </a:xfrm>
          <a:prstGeom prst="rect">
            <a:avLst/>
          </a:prstGeom>
          <a:solidFill>
            <a:srgbClr val="191C2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A2A461D-DBCA-9450-BBAE-590B5D139D97}"/>
              </a:ext>
            </a:extLst>
          </p:cNvPr>
          <p:cNvSpPr/>
          <p:nvPr/>
        </p:nvSpPr>
        <p:spPr>
          <a:xfrm>
            <a:off x="7315674" y="2735875"/>
            <a:ext cx="2160000" cy="3636970"/>
          </a:xfrm>
          <a:prstGeom prst="rect">
            <a:avLst/>
          </a:prstGeom>
          <a:solidFill>
            <a:srgbClr val="191C2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AB516D1-3BE4-DE24-0210-0B33677AF3A6}"/>
              </a:ext>
            </a:extLst>
          </p:cNvPr>
          <p:cNvSpPr/>
          <p:nvPr/>
        </p:nvSpPr>
        <p:spPr>
          <a:xfrm>
            <a:off x="9584087" y="2735875"/>
            <a:ext cx="2160000" cy="3636970"/>
          </a:xfrm>
          <a:prstGeom prst="rect">
            <a:avLst/>
          </a:prstGeom>
          <a:solidFill>
            <a:srgbClr val="191C2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3EBC21E-82CA-DA4F-0A67-B202B18F9CF6}"/>
              </a:ext>
            </a:extLst>
          </p:cNvPr>
          <p:cNvSpPr txBox="1"/>
          <p:nvPr/>
        </p:nvSpPr>
        <p:spPr>
          <a:xfrm>
            <a:off x="3123114" y="1287187"/>
            <a:ext cx="5945766" cy="1178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itchFamily="2" charset="2"/>
              <a:buChar char="à"/>
            </a:pPr>
            <a:r>
              <a:rPr lang="de-DE" sz="2000" dirty="0">
                <a:solidFill>
                  <a:schemeClr val="bg1"/>
                </a:solidFill>
              </a:rPr>
              <a:t>real </a:t>
            </a:r>
            <a:r>
              <a:rPr lang="de-DE" sz="2000" dirty="0" err="1">
                <a:solidFill>
                  <a:schemeClr val="bg1"/>
                </a:solidFill>
              </a:rPr>
              <a:t>world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data</a:t>
            </a:r>
            <a:r>
              <a:rPr lang="de-DE" sz="2000" dirty="0">
                <a:solidFill>
                  <a:schemeClr val="bg1"/>
                </a:solidFill>
              </a:rPr>
              <a:t> (</a:t>
            </a:r>
            <a:r>
              <a:rPr lang="de-DE" sz="2000" dirty="0" err="1">
                <a:solidFill>
                  <a:schemeClr val="bg1"/>
                </a:solidFill>
              </a:rPr>
              <a:t>doi</a:t>
            </a:r>
            <a:r>
              <a:rPr lang="de-DE" sz="2000" dirty="0">
                <a:solidFill>
                  <a:schemeClr val="bg1"/>
                </a:solidFill>
              </a:rPr>
              <a:t>: 10.17632/btm76zndnt.2)</a:t>
            </a:r>
          </a:p>
          <a:p>
            <a:pPr marL="342900" indent="-342900">
              <a:lnSpc>
                <a:spcPct val="120000"/>
              </a:lnSpc>
              <a:buFont typeface="Wingdings" pitchFamily="2" charset="2"/>
              <a:buChar char="à"/>
            </a:pPr>
            <a:r>
              <a:rPr lang="de-DE" sz="2000" dirty="0">
                <a:solidFill>
                  <a:schemeClr val="bg1"/>
                </a:solidFill>
              </a:rPr>
              <a:t>International </a:t>
            </a:r>
            <a:r>
              <a:rPr lang="de-DE" sz="2000" dirty="0" err="1">
                <a:solidFill>
                  <a:schemeClr val="bg1"/>
                </a:solidFill>
              </a:rPr>
              <a:t>help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desk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software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company</a:t>
            </a:r>
            <a:endParaRPr lang="de-DE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20000"/>
              </a:lnSpc>
              <a:buFont typeface="Wingdings" pitchFamily="2" charset="2"/>
              <a:buChar char="à"/>
            </a:pPr>
            <a:r>
              <a:rPr lang="de-DE" sz="2000" dirty="0">
                <a:solidFill>
                  <a:schemeClr val="bg1"/>
                </a:solidFill>
              </a:rPr>
              <a:t>Jan 2016 – Mar 2023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E5F402F-7B2C-5F27-06D1-F6FAA44FFE5A}"/>
              </a:ext>
            </a:extLst>
          </p:cNvPr>
          <p:cNvSpPr txBox="1"/>
          <p:nvPr/>
        </p:nvSpPr>
        <p:spPr>
          <a:xfrm>
            <a:off x="510436" y="2805982"/>
            <a:ext cx="2117129" cy="332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600" dirty="0" err="1">
                <a:solidFill>
                  <a:schemeClr val="bg1"/>
                </a:solidFill>
              </a:rPr>
              <a:t>issues.csv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de-DE" sz="1600" dirty="0">
                <a:solidFill>
                  <a:schemeClr val="bg1"/>
                </a:solidFill>
              </a:rPr>
              <a:t>(ticket </a:t>
            </a:r>
            <a:r>
              <a:rPr lang="de-DE" sz="1600" dirty="0" err="1">
                <a:solidFill>
                  <a:schemeClr val="bg1"/>
                </a:solidFill>
              </a:rPr>
              <a:t>level</a:t>
            </a:r>
            <a:r>
              <a:rPr lang="de-DE" sz="1600" dirty="0">
                <a:solidFill>
                  <a:schemeClr val="bg1"/>
                </a:solidFill>
              </a:rPr>
              <a:t>):</a:t>
            </a:r>
            <a:br>
              <a:rPr lang="de-DE" sz="1600" dirty="0">
                <a:solidFill>
                  <a:schemeClr val="bg1"/>
                </a:solidFill>
              </a:rPr>
            </a:br>
            <a:endParaRPr lang="de-DE" sz="16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endParaRPr lang="de-DE" sz="1600" dirty="0">
              <a:solidFill>
                <a:schemeClr val="bg1"/>
              </a:solidFill>
            </a:endParaRPr>
          </a:p>
          <a:p>
            <a:pPr marL="123825" indent="-12382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solidFill>
                  <a:schemeClr val="bg1"/>
                </a:solidFill>
              </a:rPr>
              <a:t>priority</a:t>
            </a:r>
            <a:r>
              <a:rPr lang="de-DE" sz="1600" dirty="0">
                <a:solidFill>
                  <a:schemeClr val="bg1"/>
                </a:solidFill>
              </a:rPr>
              <a:t>,</a:t>
            </a:r>
          </a:p>
          <a:p>
            <a:pPr marL="123825" indent="-12382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600" dirty="0">
                <a:solidFill>
                  <a:schemeClr val="bg1"/>
                </a:solidFill>
              </a:rPr>
              <a:t>type,</a:t>
            </a:r>
          </a:p>
          <a:p>
            <a:pPr marL="123825" indent="-12382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solidFill>
                  <a:schemeClr val="bg1"/>
                </a:solidFill>
              </a:rPr>
              <a:t>project</a:t>
            </a:r>
            <a:r>
              <a:rPr lang="de-DE" sz="1600" dirty="0">
                <a:solidFill>
                  <a:schemeClr val="bg1"/>
                </a:solidFill>
              </a:rPr>
              <a:t>, </a:t>
            </a:r>
          </a:p>
          <a:p>
            <a:pPr marL="123825" indent="-12382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solidFill>
                  <a:schemeClr val="bg1"/>
                </a:solidFill>
              </a:rPr>
              <a:t>timestamps</a:t>
            </a:r>
            <a:r>
              <a:rPr lang="de-DE" sz="1600" dirty="0">
                <a:solidFill>
                  <a:schemeClr val="bg1"/>
                </a:solidFill>
              </a:rPr>
              <a:t>, </a:t>
            </a:r>
          </a:p>
          <a:p>
            <a:pPr marL="123825" indent="-12382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solidFill>
                  <a:schemeClr val="bg1"/>
                </a:solidFill>
              </a:rPr>
              <a:t>workflow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aggregate</a:t>
            </a:r>
            <a:r>
              <a:rPr lang="de-DE" sz="1600" dirty="0">
                <a:solidFill>
                  <a:schemeClr val="bg1"/>
                </a:solidFill>
              </a:rPr>
              <a:t> (</a:t>
            </a:r>
            <a:r>
              <a:rPr lang="de-DE" sz="1600" dirty="0" err="1">
                <a:solidFill>
                  <a:schemeClr val="bg1"/>
                </a:solidFill>
              </a:rPr>
              <a:t>wf</a:t>
            </a:r>
            <a:r>
              <a:rPr lang="de-DE" sz="1600" dirty="0">
                <a:solidFill>
                  <a:schemeClr val="bg1"/>
                </a:solidFill>
              </a:rPr>
              <a:t>_*, </a:t>
            </a:r>
            <a:r>
              <a:rPr lang="de-DE" sz="1600" dirty="0" err="1">
                <a:solidFill>
                  <a:schemeClr val="bg1"/>
                </a:solidFill>
              </a:rPr>
              <a:t>wfe</a:t>
            </a:r>
            <a:r>
              <a:rPr lang="de-DE" sz="1600" dirty="0">
                <a:solidFill>
                  <a:schemeClr val="bg1"/>
                </a:solidFill>
              </a:rPr>
              <a:t>_*, </a:t>
            </a:r>
            <a:r>
              <a:rPr lang="de-DE" sz="1600" dirty="0" err="1">
                <a:solidFill>
                  <a:schemeClr val="bg1"/>
                </a:solidFill>
              </a:rPr>
              <a:t>wf_total_time</a:t>
            </a:r>
            <a:r>
              <a:rPr lang="de-DE" sz="16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D41C41A-E3AA-1277-3E1A-5A0C52B05454}"/>
              </a:ext>
            </a:extLst>
          </p:cNvPr>
          <p:cNvSpPr txBox="1"/>
          <p:nvPr/>
        </p:nvSpPr>
        <p:spPr>
          <a:xfrm>
            <a:off x="9584087" y="2805982"/>
            <a:ext cx="2219985" cy="184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600" dirty="0" err="1">
                <a:solidFill>
                  <a:schemeClr val="bg1"/>
                </a:solidFill>
              </a:rPr>
              <a:t>issues_change_history.csv</a:t>
            </a:r>
            <a:r>
              <a:rPr lang="de-DE" sz="1600" dirty="0">
                <a:solidFill>
                  <a:schemeClr val="bg1"/>
                </a:solidFill>
              </a:rPr>
              <a:t> (</a:t>
            </a:r>
            <a:r>
              <a:rPr lang="de-DE" sz="1600" dirty="0" err="1">
                <a:solidFill>
                  <a:schemeClr val="bg1"/>
                </a:solidFill>
              </a:rPr>
              <a:t>event</a:t>
            </a:r>
            <a:r>
              <a:rPr lang="de-DE" sz="1600" dirty="0">
                <a:solidFill>
                  <a:schemeClr val="bg1"/>
                </a:solidFill>
              </a:rPr>
              <a:t> log):</a:t>
            </a:r>
          </a:p>
          <a:p>
            <a:pPr>
              <a:lnSpc>
                <a:spcPct val="120000"/>
              </a:lnSpc>
            </a:pPr>
            <a:endParaRPr lang="de-DE" sz="16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endParaRPr lang="de-DE" sz="16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de-DE" sz="1600" dirty="0" err="1">
                <a:solidFill>
                  <a:schemeClr val="bg1"/>
                </a:solidFill>
              </a:rPr>
              <a:t>assignee</a:t>
            </a:r>
            <a:r>
              <a:rPr lang="de-DE" sz="1600" dirty="0">
                <a:solidFill>
                  <a:schemeClr val="bg1"/>
                </a:solidFill>
              </a:rPr>
              <a:t>/</a:t>
            </a:r>
            <a:r>
              <a:rPr lang="de-DE" sz="1600" dirty="0" err="1">
                <a:solidFill>
                  <a:schemeClr val="bg1"/>
                </a:solidFill>
              </a:rPr>
              <a:t>status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changes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over</a:t>
            </a:r>
            <a:r>
              <a:rPr lang="de-DE" sz="1600" dirty="0">
                <a:solidFill>
                  <a:schemeClr val="bg1"/>
                </a:solidFill>
              </a:rPr>
              <a:t> time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5E33527-516A-6144-8D0A-E72EEABFEE7F}"/>
              </a:ext>
            </a:extLst>
          </p:cNvPr>
          <p:cNvSpPr txBox="1"/>
          <p:nvPr/>
        </p:nvSpPr>
        <p:spPr>
          <a:xfrm>
            <a:off x="7315668" y="2805982"/>
            <a:ext cx="2539595" cy="2143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600" dirty="0" err="1">
                <a:solidFill>
                  <a:schemeClr val="bg1"/>
                </a:solidFill>
              </a:rPr>
              <a:t>sample_utterances.csv</a:t>
            </a:r>
            <a:endParaRPr lang="de-DE" sz="16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de-DE" sz="1600" dirty="0">
                <a:solidFill>
                  <a:schemeClr val="bg1"/>
                </a:solidFill>
              </a:rPr>
              <a:t>(</a:t>
            </a:r>
            <a:r>
              <a:rPr lang="de-DE" sz="1600" dirty="0" err="1">
                <a:solidFill>
                  <a:schemeClr val="bg1"/>
                </a:solidFill>
              </a:rPr>
              <a:t>utterance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level</a:t>
            </a:r>
            <a:r>
              <a:rPr lang="de-DE" sz="1600" dirty="0">
                <a:solidFill>
                  <a:schemeClr val="bg1"/>
                </a:solidFill>
              </a:rPr>
              <a:t>): </a:t>
            </a:r>
          </a:p>
          <a:p>
            <a:pPr>
              <a:lnSpc>
                <a:spcPct val="120000"/>
              </a:lnSpc>
            </a:pPr>
            <a:endParaRPr lang="de-DE" sz="16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endParaRPr lang="de-DE" sz="16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de-DE" sz="1600" dirty="0" err="1">
                <a:solidFill>
                  <a:schemeClr val="bg1"/>
                </a:solidFill>
              </a:rPr>
              <a:t>communication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signals</a:t>
            </a:r>
            <a:r>
              <a:rPr lang="de-DE" sz="1600" dirty="0">
                <a:solidFill>
                  <a:schemeClr val="bg1"/>
                </a:solidFill>
              </a:rPr>
              <a:t> (</a:t>
            </a:r>
            <a:r>
              <a:rPr lang="de-DE" sz="1600" dirty="0" err="1">
                <a:solidFill>
                  <a:schemeClr val="bg1"/>
                </a:solidFill>
              </a:rPr>
              <a:t>roles</a:t>
            </a:r>
            <a:r>
              <a:rPr lang="de-DE" sz="1600" dirty="0">
                <a:solidFill>
                  <a:schemeClr val="bg1"/>
                </a:solidFill>
              </a:rPr>
              <a:t>, </a:t>
            </a:r>
            <a:r>
              <a:rPr lang="de-DE" sz="1600" dirty="0" err="1">
                <a:solidFill>
                  <a:schemeClr val="bg1"/>
                </a:solidFill>
              </a:rPr>
              <a:t>privacy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flags</a:t>
            </a:r>
            <a:r>
              <a:rPr lang="de-DE" sz="1600" dirty="0">
                <a:solidFill>
                  <a:schemeClr val="bg1"/>
                </a:solidFill>
              </a:rPr>
              <a:t>, </a:t>
            </a:r>
            <a:r>
              <a:rPr lang="de-DE" sz="1600" dirty="0" err="1">
                <a:solidFill>
                  <a:schemeClr val="bg1"/>
                </a:solidFill>
              </a:rPr>
              <a:t>masked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text</a:t>
            </a:r>
            <a:r>
              <a:rPr lang="de-DE" sz="16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1915949-E3C2-9A94-3EC9-E69715F36A6C}"/>
              </a:ext>
            </a:extLst>
          </p:cNvPr>
          <p:cNvSpPr txBox="1"/>
          <p:nvPr/>
        </p:nvSpPr>
        <p:spPr>
          <a:xfrm>
            <a:off x="5029859" y="2805982"/>
            <a:ext cx="1976993" cy="362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600" dirty="0" err="1">
                <a:solidFill>
                  <a:schemeClr val="bg1"/>
                </a:solidFill>
              </a:rPr>
              <a:t>issues_snapshot</a:t>
            </a:r>
            <a:r>
              <a:rPr lang="de-DE" sz="1600" dirty="0">
                <a:solidFill>
                  <a:schemeClr val="bg1"/>
                </a:solidFill>
              </a:rPr>
              <a:t>_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 err="1">
                <a:solidFill>
                  <a:schemeClr val="bg1"/>
                </a:solidFill>
              </a:rPr>
              <a:t>sample.xlsx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>
                <a:solidFill>
                  <a:schemeClr val="bg1"/>
                </a:solidFill>
              </a:rPr>
              <a:t>(</a:t>
            </a:r>
            <a:r>
              <a:rPr lang="de-DE" sz="1600" dirty="0" err="1">
                <a:solidFill>
                  <a:schemeClr val="bg1"/>
                </a:solidFill>
              </a:rPr>
              <a:t>labeled</a:t>
            </a:r>
            <a:r>
              <a:rPr lang="de-DE" sz="1600" dirty="0">
                <a:solidFill>
                  <a:schemeClr val="bg1"/>
                </a:solidFill>
              </a:rPr>
              <a:t> sample):</a:t>
            </a:r>
          </a:p>
          <a:p>
            <a:pPr>
              <a:lnSpc>
                <a:spcPct val="120000"/>
              </a:lnSpc>
            </a:pPr>
            <a:endParaRPr lang="de-DE" sz="1600" dirty="0">
              <a:solidFill>
                <a:schemeClr val="bg1"/>
              </a:solidFill>
            </a:endParaRPr>
          </a:p>
          <a:p>
            <a:pPr marL="139700" indent="-107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solidFill>
                  <a:schemeClr val="bg1"/>
                </a:solidFill>
              </a:rPr>
              <a:t>manager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ratings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>
                <a:solidFill>
                  <a:schemeClr val="bg1"/>
                </a:solidFill>
              </a:rPr>
              <a:t>(Q1/Q2/Q3)</a:t>
            </a:r>
          </a:p>
          <a:p>
            <a:pPr marL="139700" indent="-107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solidFill>
                  <a:schemeClr val="bg1"/>
                </a:solidFill>
              </a:rPr>
              <a:t>spent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hours</a:t>
            </a:r>
            <a:endParaRPr lang="de-DE" sz="1600" dirty="0">
              <a:solidFill>
                <a:schemeClr val="bg1"/>
              </a:solidFill>
            </a:endParaRPr>
          </a:p>
          <a:p>
            <a:pPr marL="139700" indent="-107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solidFill>
                  <a:schemeClr val="bg1"/>
                </a:solidFill>
              </a:rPr>
              <a:t>steps</a:t>
            </a:r>
            <a:endParaRPr lang="de-DE" sz="1600" dirty="0">
              <a:solidFill>
                <a:schemeClr val="bg1"/>
              </a:solidFill>
            </a:endParaRPr>
          </a:p>
          <a:p>
            <a:pPr marL="139700" indent="-107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solidFill>
                  <a:schemeClr val="bg1"/>
                </a:solidFill>
              </a:rPr>
              <a:t>comments</a:t>
            </a:r>
            <a:r>
              <a:rPr lang="de-DE" sz="1600" dirty="0">
                <a:solidFill>
                  <a:schemeClr val="bg1"/>
                </a:solidFill>
              </a:rPr>
              <a:t>,</a:t>
            </a:r>
          </a:p>
          <a:p>
            <a:pPr marL="139700" indent="-107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solidFill>
                  <a:schemeClr val="bg1"/>
                </a:solidFill>
              </a:rPr>
              <a:t>validity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flag</a:t>
            </a:r>
            <a:endParaRPr lang="de-DE" sz="1600" dirty="0">
              <a:solidFill>
                <a:schemeClr val="bg1"/>
              </a:solidFill>
            </a:endParaRPr>
          </a:p>
          <a:p>
            <a:pPr marL="139700" indent="-1079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1600" dirty="0" err="1">
                <a:solidFill>
                  <a:schemeClr val="bg1"/>
                </a:solidFill>
              </a:rPr>
              <a:t>notes</a:t>
            </a:r>
            <a:endParaRPr lang="de-DE" sz="16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701829A-A1ED-1DBF-5934-2082AC8FB1BF}"/>
              </a:ext>
            </a:extLst>
          </p:cNvPr>
          <p:cNvSpPr txBox="1"/>
          <p:nvPr/>
        </p:nvSpPr>
        <p:spPr>
          <a:xfrm>
            <a:off x="2764474" y="2825768"/>
            <a:ext cx="2213459" cy="3029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de-DE" sz="1600" dirty="0" err="1">
                <a:solidFill>
                  <a:schemeClr val="bg1"/>
                </a:solidFill>
              </a:rPr>
              <a:t>issues_snapshot.csv</a:t>
            </a:r>
            <a:br>
              <a:rPr lang="de-DE" sz="1600" dirty="0">
                <a:solidFill>
                  <a:schemeClr val="bg1"/>
                </a:solidFill>
              </a:rPr>
            </a:br>
            <a:r>
              <a:rPr lang="de-DE" sz="1600" dirty="0">
                <a:solidFill>
                  <a:schemeClr val="bg1"/>
                </a:solidFill>
              </a:rPr>
              <a:t>(turn </a:t>
            </a:r>
            <a:r>
              <a:rPr lang="de-DE" sz="1600" dirty="0" err="1">
                <a:solidFill>
                  <a:schemeClr val="bg1"/>
                </a:solidFill>
              </a:rPr>
              <a:t>level</a:t>
            </a:r>
            <a:r>
              <a:rPr lang="de-DE" sz="1600" dirty="0">
                <a:solidFill>
                  <a:schemeClr val="bg1"/>
                </a:solidFill>
              </a:rPr>
              <a:t>):</a:t>
            </a:r>
          </a:p>
          <a:p>
            <a:pPr>
              <a:lnSpc>
                <a:spcPct val="120000"/>
              </a:lnSpc>
            </a:pPr>
            <a:endParaRPr lang="de-DE" sz="16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endParaRPr lang="de-DE" sz="16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de-DE" sz="1600" dirty="0" err="1">
                <a:solidFill>
                  <a:schemeClr val="bg1"/>
                </a:solidFill>
              </a:rPr>
              <a:t>splits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tickets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into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de-DE" sz="1600" dirty="0" err="1">
                <a:solidFill>
                  <a:schemeClr val="bg1"/>
                </a:solidFill>
              </a:rPr>
              <a:t>assignee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  <a:r>
              <a:rPr lang="de-DE" sz="1600" dirty="0" err="1">
                <a:solidFill>
                  <a:schemeClr val="bg1"/>
                </a:solidFill>
              </a:rPr>
              <a:t>turns</a:t>
            </a:r>
            <a:r>
              <a:rPr lang="de-DE" sz="1600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de-DE" sz="1600" dirty="0">
                <a:solidFill>
                  <a:schemeClr val="bg1"/>
                </a:solidFill>
              </a:rPr>
              <a:t>(</a:t>
            </a:r>
            <a:r>
              <a:rPr lang="de-DE" sz="1600" dirty="0" err="1">
                <a:solidFill>
                  <a:schemeClr val="bg1"/>
                </a:solidFill>
              </a:rPr>
              <a:t>started</a:t>
            </a:r>
            <a:r>
              <a:rPr lang="de-DE" sz="1600" dirty="0">
                <a:solidFill>
                  <a:schemeClr val="bg1"/>
                </a:solidFill>
              </a:rPr>
              <a:t>, </a:t>
            </a:r>
            <a:r>
              <a:rPr lang="de-DE" sz="1600" dirty="0" err="1">
                <a:solidFill>
                  <a:schemeClr val="bg1"/>
                </a:solidFill>
              </a:rPr>
              <a:t>ended</a:t>
            </a:r>
            <a:r>
              <a:rPr lang="de-DE" sz="1600" dirty="0">
                <a:solidFill>
                  <a:schemeClr val="bg1"/>
                </a:solidFill>
              </a:rPr>
              <a:t>, turn) </a:t>
            </a:r>
          </a:p>
          <a:p>
            <a:pPr>
              <a:lnSpc>
                <a:spcPct val="120000"/>
              </a:lnSpc>
            </a:pPr>
            <a:r>
              <a:rPr lang="de-DE" sz="1600" spc="-20" dirty="0">
                <a:solidFill>
                  <a:schemeClr val="bg1"/>
                </a:solidFill>
              </a:rPr>
              <a:t>and </a:t>
            </a:r>
            <a:r>
              <a:rPr lang="de-DE" sz="1600" spc="-20" dirty="0" err="1">
                <a:solidFill>
                  <a:schemeClr val="bg1"/>
                </a:solidFill>
              </a:rPr>
              <a:t>allocates</a:t>
            </a:r>
            <a:r>
              <a:rPr lang="de-DE" sz="1600" spc="-20" dirty="0">
                <a:solidFill>
                  <a:schemeClr val="bg1"/>
                </a:solidFill>
              </a:rPr>
              <a:t> </a:t>
            </a:r>
            <a:r>
              <a:rPr lang="de-DE" sz="1600" spc="-20" dirty="0" err="1">
                <a:solidFill>
                  <a:schemeClr val="bg1"/>
                </a:solidFill>
              </a:rPr>
              <a:t>workflow</a:t>
            </a:r>
            <a:r>
              <a:rPr lang="de-DE" sz="1600" spc="-20" dirty="0">
                <a:solidFill>
                  <a:schemeClr val="bg1"/>
                </a:solidFill>
              </a:rPr>
              <a:t> </a:t>
            </a:r>
            <a:r>
              <a:rPr lang="de-DE" sz="1600" dirty="0">
                <a:solidFill>
                  <a:schemeClr val="bg1"/>
                </a:solidFill>
              </a:rPr>
              <a:t>time per </a:t>
            </a:r>
            <a:r>
              <a:rPr lang="de-DE" sz="1600" dirty="0" err="1">
                <a:solidFill>
                  <a:schemeClr val="bg1"/>
                </a:solidFill>
              </a:rPr>
              <a:t>assignee</a:t>
            </a:r>
            <a:endParaRPr lang="de-DE" sz="1600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endParaRPr lang="de-DE" sz="1600" dirty="0">
              <a:solidFill>
                <a:schemeClr val="bg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1A82F7B4-4226-B5F1-A7F0-44331A8A837C}"/>
              </a:ext>
            </a:extLst>
          </p:cNvPr>
          <p:cNvSpPr/>
          <p:nvPr/>
        </p:nvSpPr>
        <p:spPr>
          <a:xfrm>
            <a:off x="670032" y="3859750"/>
            <a:ext cx="180000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F91CBF29-68F1-9B3D-F319-15AFA8E7B447}"/>
              </a:ext>
            </a:extLst>
          </p:cNvPr>
          <p:cNvSpPr/>
          <p:nvPr/>
        </p:nvSpPr>
        <p:spPr>
          <a:xfrm>
            <a:off x="2953657" y="3868750"/>
            <a:ext cx="180000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0AB1754-90B6-9217-4E3E-92259017D6B5}"/>
              </a:ext>
            </a:extLst>
          </p:cNvPr>
          <p:cNvSpPr/>
          <p:nvPr/>
        </p:nvSpPr>
        <p:spPr>
          <a:xfrm>
            <a:off x="5219652" y="3855594"/>
            <a:ext cx="180000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7AAB862-35A7-DDAD-D6D0-65FE1EBC3264}"/>
              </a:ext>
            </a:extLst>
          </p:cNvPr>
          <p:cNvSpPr/>
          <p:nvPr/>
        </p:nvSpPr>
        <p:spPr>
          <a:xfrm>
            <a:off x="7503277" y="3864594"/>
            <a:ext cx="180000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C373842D-116F-CB37-0741-4A6592F9030F}"/>
              </a:ext>
            </a:extLst>
          </p:cNvPr>
          <p:cNvSpPr/>
          <p:nvPr/>
        </p:nvSpPr>
        <p:spPr>
          <a:xfrm>
            <a:off x="9764087" y="3850750"/>
            <a:ext cx="180000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6421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CAAAF-0DF5-D05C-C153-9E631D786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72BF3BC2-4321-9CDD-953D-2BDEC4B3CFB4}"/>
              </a:ext>
            </a:extLst>
          </p:cNvPr>
          <p:cNvSpPr/>
          <p:nvPr/>
        </p:nvSpPr>
        <p:spPr>
          <a:xfrm>
            <a:off x="1654071" y="1618811"/>
            <a:ext cx="8512396" cy="1933523"/>
          </a:xfrm>
          <a:prstGeom prst="rect">
            <a:avLst/>
          </a:prstGeom>
          <a:solidFill>
            <a:srgbClr val="191C2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103451E-A35C-F334-14D7-9FDA9DFA1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67153"/>
          </a:xfrm>
        </p:spPr>
        <p:txBody>
          <a:bodyPr/>
          <a:lstStyle/>
          <a:p>
            <a:pPr algn="ctr"/>
            <a:r>
              <a:rPr lang="de-DE" dirty="0"/>
              <a:t>PERFORMANCE SCORES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A0A3890-66C6-BEE1-BE5B-E0FCA5B7938C}"/>
              </a:ext>
            </a:extLst>
          </p:cNvPr>
          <p:cNvSpPr/>
          <p:nvPr/>
        </p:nvSpPr>
        <p:spPr>
          <a:xfrm>
            <a:off x="155997" y="879047"/>
            <a:ext cx="11880000" cy="1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E2815D6-9BD8-1861-8C94-4A9AC53DA224}"/>
              </a:ext>
            </a:extLst>
          </p:cNvPr>
          <p:cNvSpPr/>
          <p:nvPr/>
        </p:nvSpPr>
        <p:spPr>
          <a:xfrm>
            <a:off x="1654071" y="3952865"/>
            <a:ext cx="8512396" cy="2231805"/>
          </a:xfrm>
          <a:prstGeom prst="rect">
            <a:avLst/>
          </a:prstGeom>
          <a:solidFill>
            <a:srgbClr val="191C2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5643995-82FF-8380-9203-E769EEC0173B}"/>
              </a:ext>
            </a:extLst>
          </p:cNvPr>
          <p:cNvSpPr txBox="1"/>
          <p:nvPr/>
        </p:nvSpPr>
        <p:spPr>
          <a:xfrm>
            <a:off x="2236930" y="1717994"/>
            <a:ext cx="7691275" cy="1735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de-DE" b="1" u="sng" dirty="0">
                <a:solidFill>
                  <a:schemeClr val="bg1"/>
                </a:solidFill>
              </a:rPr>
              <a:t>Q-SCORES: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Q1 – Quality </a:t>
            </a:r>
            <a:r>
              <a:rPr lang="de-DE" dirty="0" err="1">
                <a:solidFill>
                  <a:schemeClr val="bg1"/>
                </a:solidFill>
              </a:rPr>
              <a:t>of</a:t>
            </a:r>
            <a:r>
              <a:rPr lang="de-DE" dirty="0">
                <a:solidFill>
                  <a:schemeClr val="bg1"/>
                </a:solidFill>
              </a:rPr>
              <a:t> Work: 	</a:t>
            </a:r>
            <a:r>
              <a:rPr lang="de-DE" dirty="0" err="1">
                <a:solidFill>
                  <a:schemeClr val="bg1"/>
                </a:solidFill>
              </a:rPr>
              <a:t>Accuracy</a:t>
            </a:r>
            <a:r>
              <a:rPr lang="de-DE" dirty="0">
                <a:solidFill>
                  <a:schemeClr val="bg1"/>
                </a:solidFill>
              </a:rPr>
              <a:t> &amp; </a:t>
            </a:r>
            <a:r>
              <a:rPr lang="de-DE" dirty="0" err="1">
                <a:solidFill>
                  <a:schemeClr val="bg1"/>
                </a:solidFill>
              </a:rPr>
              <a:t>precision</a:t>
            </a:r>
            <a:endParaRPr lang="de-DE" dirty="0">
              <a:solidFill>
                <a:schemeClr val="bg1"/>
              </a:solidFill>
            </a:endParaRP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Q2 – Quality </a:t>
            </a:r>
            <a:r>
              <a:rPr lang="de-DE" dirty="0" err="1">
                <a:solidFill>
                  <a:schemeClr val="bg1"/>
                </a:solidFill>
              </a:rPr>
              <a:t>of</a:t>
            </a:r>
            <a:r>
              <a:rPr lang="de-DE" dirty="0">
                <a:solidFill>
                  <a:schemeClr val="bg1"/>
                </a:solidFill>
              </a:rPr>
              <a:t> Work: 	</a:t>
            </a:r>
            <a:r>
              <a:rPr lang="de-DE" dirty="0" err="1">
                <a:solidFill>
                  <a:schemeClr val="bg1"/>
                </a:solidFill>
              </a:rPr>
              <a:t>Thoroughness</a:t>
            </a:r>
            <a:r>
              <a:rPr lang="de-DE" dirty="0">
                <a:solidFill>
                  <a:schemeClr val="bg1"/>
                </a:solidFill>
              </a:rPr>
              <a:t> &amp; </a:t>
            </a:r>
            <a:r>
              <a:rPr lang="de-DE" dirty="0" err="1">
                <a:solidFill>
                  <a:schemeClr val="bg1"/>
                </a:solidFill>
              </a:rPr>
              <a:t>completeness</a:t>
            </a:r>
            <a:endParaRPr lang="de-DE" dirty="0">
              <a:solidFill>
                <a:schemeClr val="bg1"/>
              </a:solidFill>
            </a:endParaRP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Q3 – Client Relations: 	</a:t>
            </a:r>
            <a:r>
              <a:rPr lang="de-DE" dirty="0" err="1">
                <a:solidFill>
                  <a:schemeClr val="bg1"/>
                </a:solidFill>
              </a:rPr>
              <a:t>Responsiveness</a:t>
            </a:r>
            <a:r>
              <a:rPr lang="de-DE" dirty="0">
                <a:solidFill>
                  <a:schemeClr val="bg1"/>
                </a:solidFill>
              </a:rPr>
              <a:t> &amp; </a:t>
            </a:r>
            <a:r>
              <a:rPr lang="de-DE" dirty="0" err="1">
                <a:solidFill>
                  <a:schemeClr val="bg1"/>
                </a:solidFill>
              </a:rPr>
              <a:t>courteousness</a:t>
            </a:r>
            <a:endParaRPr lang="de-DE" dirty="0">
              <a:solidFill>
                <a:schemeClr val="bg1"/>
              </a:solidFill>
            </a:endParaRPr>
          </a:p>
          <a:p>
            <a:pPr marL="342900" indent="-342900" algn="just">
              <a:lnSpc>
                <a:spcPct val="120000"/>
              </a:lnSpc>
              <a:buFont typeface="Wingdings" pitchFamily="2" charset="2"/>
              <a:buChar char="à"/>
            </a:pPr>
            <a:r>
              <a:rPr lang="de-DE" dirty="0">
                <a:solidFill>
                  <a:schemeClr val="bg1"/>
                </a:solidFill>
              </a:rPr>
              <a:t>Manager Ratings (</a:t>
            </a:r>
            <a:r>
              <a:rPr lang="de-DE" dirty="0" err="1">
                <a:solidFill>
                  <a:schemeClr val="bg1"/>
                </a:solidFill>
              </a:rPr>
              <a:t>subjective</a:t>
            </a:r>
            <a:r>
              <a:rPr lang="de-DE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910852B-ED5F-49AD-D545-56A4FF188FD3}"/>
              </a:ext>
            </a:extLst>
          </p:cNvPr>
          <p:cNvSpPr txBox="1"/>
          <p:nvPr/>
        </p:nvSpPr>
        <p:spPr>
          <a:xfrm>
            <a:off x="2236931" y="4025339"/>
            <a:ext cx="7691276" cy="206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de-DE" b="1" u="sng" dirty="0">
                <a:solidFill>
                  <a:schemeClr val="bg1"/>
                </a:solidFill>
              </a:rPr>
              <a:t>O-SCORES: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Quality (35%): 		</a:t>
            </a:r>
            <a:r>
              <a:rPr lang="de-DE" dirty="0" err="1">
                <a:solidFill>
                  <a:schemeClr val="bg1"/>
                </a:solidFill>
              </a:rPr>
              <a:t>reopen</a:t>
            </a:r>
            <a:r>
              <a:rPr lang="de-DE" dirty="0">
                <a:solidFill>
                  <a:schemeClr val="bg1"/>
                </a:solidFill>
              </a:rPr>
              <a:t> rate, </a:t>
            </a:r>
            <a:r>
              <a:rPr lang="de-DE" dirty="0" err="1">
                <a:solidFill>
                  <a:schemeClr val="bg1"/>
                </a:solidFill>
              </a:rPr>
              <a:t>success</a:t>
            </a:r>
            <a:r>
              <a:rPr lang="de-DE" dirty="0">
                <a:solidFill>
                  <a:schemeClr val="bg1"/>
                </a:solidFill>
              </a:rPr>
              <a:t> rate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Efficiency (25%): 	</a:t>
            </a:r>
            <a:r>
              <a:rPr lang="de-DE" dirty="0" err="1">
                <a:solidFill>
                  <a:schemeClr val="bg1"/>
                </a:solidFill>
              </a:rPr>
              <a:t>processing</a:t>
            </a:r>
            <a:r>
              <a:rPr lang="de-DE" dirty="0">
                <a:solidFill>
                  <a:schemeClr val="bg1"/>
                </a:solidFill>
              </a:rPr>
              <a:t> time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chemeClr val="bg1"/>
                </a:solidFill>
              </a:rPr>
              <a:t>Productivity</a:t>
            </a:r>
            <a:r>
              <a:rPr lang="de-DE" dirty="0">
                <a:solidFill>
                  <a:schemeClr val="bg1"/>
                </a:solidFill>
              </a:rPr>
              <a:t> (20%): 	ticket </a:t>
            </a:r>
            <a:r>
              <a:rPr lang="de-DE" dirty="0" err="1">
                <a:solidFill>
                  <a:schemeClr val="bg1"/>
                </a:solidFill>
              </a:rPr>
              <a:t>volume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processing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steps</a:t>
            </a:r>
            <a:endParaRPr lang="de-DE" dirty="0">
              <a:solidFill>
                <a:schemeClr val="bg1"/>
              </a:solidFill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Communication (20%): 	first-</a:t>
            </a:r>
            <a:r>
              <a:rPr lang="de-DE" dirty="0" err="1">
                <a:solidFill>
                  <a:schemeClr val="bg1"/>
                </a:solidFill>
              </a:rPr>
              <a:t>touch</a:t>
            </a:r>
            <a:r>
              <a:rPr lang="de-DE" dirty="0">
                <a:solidFill>
                  <a:schemeClr val="bg1"/>
                </a:solidFill>
              </a:rPr>
              <a:t> rate, </a:t>
            </a:r>
            <a:r>
              <a:rPr lang="de-DE" dirty="0" err="1">
                <a:solidFill>
                  <a:schemeClr val="bg1"/>
                </a:solidFill>
              </a:rPr>
              <a:t>comment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activity</a:t>
            </a: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de-DE" dirty="0">
                <a:solidFill>
                  <a:schemeClr val="bg1"/>
                </a:solidFill>
                <a:sym typeface="Wingdings" pitchFamily="2" charset="2"/>
              </a:rPr>
              <a:t> Operational Score (</a:t>
            </a:r>
            <a:r>
              <a:rPr lang="de-DE" dirty="0" err="1">
                <a:solidFill>
                  <a:schemeClr val="bg1"/>
                </a:solidFill>
                <a:sym typeface="Wingdings" pitchFamily="2" charset="2"/>
              </a:rPr>
              <a:t>objective</a:t>
            </a:r>
            <a:r>
              <a:rPr lang="de-DE" dirty="0">
                <a:solidFill>
                  <a:schemeClr val="bg1"/>
                </a:solidFill>
                <a:sym typeface="Wingdings" pitchFamily="2" charset="2"/>
              </a:rPr>
              <a:t>)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273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Microsoft Macintosh PowerPoint</Application>
  <PresentationFormat>Breitbild</PresentationFormat>
  <Paragraphs>68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</vt:lpstr>
      <vt:lpstr>Help Desk Operations</vt:lpstr>
      <vt:lpstr>CONTEXT</vt:lpstr>
      <vt:lpstr>RELEVANCE</vt:lpstr>
      <vt:lpstr>DATA</vt:lpstr>
      <vt:lpstr>PERFORMANCE SCORES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Pfeifer, Marina</dc:creator>
  <cp:lastModifiedBy>Pfeifer, Marina</cp:lastModifiedBy>
  <cp:revision>3</cp:revision>
  <dcterms:created xsi:type="dcterms:W3CDTF">2026-02-18T10:58:21Z</dcterms:created>
  <dcterms:modified xsi:type="dcterms:W3CDTF">2026-02-18T12:37:10Z</dcterms:modified>
</cp:coreProperties>
</file>